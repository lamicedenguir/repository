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279975" cy="42808525"/>
  <p:notesSz cx="29819600" cy="423418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7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7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7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7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7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7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7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7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78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29400"/>
    <a:srgbClr val="304F7C"/>
    <a:srgbClr val="FFCC66"/>
    <a:srgbClr val="203554"/>
    <a:srgbClr val="999999"/>
    <a:srgbClr val="8E2462"/>
    <a:srgbClr val="E0E0E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8157" autoAdjust="0"/>
  </p:normalViewPr>
  <p:slideViewPr>
    <p:cSldViewPr>
      <p:cViewPr>
        <p:scale>
          <a:sx n="20" d="100"/>
          <a:sy n="20" d="100"/>
        </p:scale>
        <p:origin x="-1920" y="996"/>
      </p:cViewPr>
      <p:guideLst>
        <p:guide orient="horz" pos="13483"/>
        <p:guide pos="95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12921825" cy="2117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2337" tIns="206168" rIns="412337" bIns="206168" numCol="1" anchor="t" anchorCtr="0" compatLnSpc="1">
            <a:prstTxWarp prst="textNoShape">
              <a:avLst/>
            </a:prstTxWarp>
          </a:bodyPr>
          <a:lstStyle>
            <a:lvl1pPr>
              <a:defRPr sz="5400"/>
            </a:lvl1pPr>
          </a:lstStyle>
          <a:p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6890876" y="2"/>
            <a:ext cx="12921825" cy="2117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2337" tIns="206168" rIns="412337" bIns="206168" numCol="1" anchor="t" anchorCtr="0" compatLnSpc="1">
            <a:prstTxWarp prst="textNoShape">
              <a:avLst/>
            </a:prstTxWarp>
          </a:bodyPr>
          <a:lstStyle>
            <a:lvl1pPr algn="r">
              <a:defRPr sz="5400"/>
            </a:lvl1pPr>
          </a:lstStyle>
          <a:p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97988" y="3178175"/>
            <a:ext cx="11229975" cy="15875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981960" y="20112354"/>
            <a:ext cx="23855680" cy="19053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2337" tIns="206168" rIns="412337" bIns="2061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40217363"/>
            <a:ext cx="12921825" cy="2117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2337" tIns="206168" rIns="412337" bIns="206168" numCol="1" anchor="b" anchorCtr="0" compatLnSpc="1">
            <a:prstTxWarp prst="textNoShape">
              <a:avLst/>
            </a:prstTxWarp>
          </a:bodyPr>
          <a:lstStyle>
            <a:lvl1pPr>
              <a:defRPr sz="5400"/>
            </a:lvl1pPr>
          </a:lstStyle>
          <a:p>
            <a:endParaRPr 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6890876" y="40217363"/>
            <a:ext cx="12921825" cy="2117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2337" tIns="206168" rIns="412337" bIns="206168" numCol="1" anchor="b" anchorCtr="0" compatLnSpc="1">
            <a:prstTxWarp prst="textNoShape">
              <a:avLst/>
            </a:prstTxWarp>
          </a:bodyPr>
          <a:lstStyle>
            <a:lvl1pPr algn="r">
              <a:defRPr sz="5400"/>
            </a:lvl1pPr>
          </a:lstStyle>
          <a:p>
            <a:fld id="{11FCD296-40FB-4EFD-9F35-3AD4CAB2281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6601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4D986C-A07B-4E9A-8187-FD7ED18A1B1A}" type="slidenum">
              <a:rPr lang="fr-FR"/>
              <a:pPr/>
              <a:t>1</a:t>
            </a:fld>
            <a:endParaRPr lang="fr-FR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71713" y="13298488"/>
            <a:ext cx="25736550" cy="917575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541838" y="24258588"/>
            <a:ext cx="21196300" cy="1093946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300E27-37EF-4A94-9770-DB997186780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99298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9644-2B5A-4989-A8B8-2A57E3E1B86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22689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2363" y="27508200"/>
            <a:ext cx="25738137" cy="85026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2363" y="18143538"/>
            <a:ext cx="25738137" cy="93646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E4739B-8056-4FF1-A00F-E6D3976323A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58700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514475" y="9988550"/>
            <a:ext cx="13549313" cy="28251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216188" y="9988550"/>
            <a:ext cx="13549312" cy="28251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6B4DA9-954A-4A0E-8D37-F05C26C9119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60028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51025" cy="7134225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4475" y="9582150"/>
            <a:ext cx="13377863" cy="3994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14475" y="13576300"/>
            <a:ext cx="13377863" cy="24663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5381288" y="9582150"/>
            <a:ext cx="13384212" cy="3994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5381288" y="13576300"/>
            <a:ext cx="13384212" cy="24663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1189F9-EAA1-49EC-BB6F-10FEB8F80348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292581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DCDF1-AA07-4F92-B5B9-4572415D48E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80022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5EDC3-77A7-4D36-A522-582914599228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35726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61563" cy="72532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37988" y="1704975"/>
            <a:ext cx="16927512" cy="365347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14475" y="8958263"/>
            <a:ext cx="9961563" cy="292814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DC55EB-EB95-4FA5-90DD-9493658FD06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24806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35663" y="29965650"/>
            <a:ext cx="18167350" cy="3538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935663" y="3824288"/>
            <a:ext cx="18167350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935663" y="33504188"/>
            <a:ext cx="18167350" cy="5022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9DDC11-E172-42D5-8E3B-5D7B7E73F9EF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375298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6915E-0AFA-4BF8-9AAD-2B31AFB2D78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03559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1953538" y="1714500"/>
            <a:ext cx="6811962" cy="365252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14475" y="1714500"/>
            <a:ext cx="20286663" cy="365252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479B9B-B7B8-48EB-9C3C-02533E624FC0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27333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14475" y="1714500"/>
            <a:ext cx="27251025" cy="713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8660" tIns="199330" rIns="398660" bIns="19933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14475" y="9988550"/>
            <a:ext cx="27251025" cy="282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8660" tIns="199330" rIns="398660" bIns="1993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14475" y="38981063"/>
            <a:ext cx="7064375" cy="297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8660" tIns="199330" rIns="398660" bIns="199330" numCol="1" anchor="t" anchorCtr="0" compatLnSpc="1">
            <a:prstTxWarp prst="textNoShape">
              <a:avLst/>
            </a:prstTxWarp>
          </a:bodyPr>
          <a:lstStyle>
            <a:lvl1pPr defTabSz="3986213">
              <a:defRPr sz="61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738" y="38981063"/>
            <a:ext cx="9588500" cy="297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8660" tIns="199330" rIns="398660" bIns="199330" numCol="1" anchor="t" anchorCtr="0" compatLnSpc="1">
            <a:prstTxWarp prst="textNoShape">
              <a:avLst/>
            </a:prstTxWarp>
          </a:bodyPr>
          <a:lstStyle>
            <a:lvl1pPr algn="ctr" defTabSz="3986213">
              <a:defRPr sz="61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701125" y="38981063"/>
            <a:ext cx="7064375" cy="297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8660" tIns="199330" rIns="398660" bIns="199330" numCol="1" anchor="t" anchorCtr="0" compatLnSpc="1">
            <a:prstTxWarp prst="textNoShape">
              <a:avLst/>
            </a:prstTxWarp>
          </a:bodyPr>
          <a:lstStyle>
            <a:lvl1pPr algn="r" defTabSz="3986213">
              <a:defRPr sz="6100"/>
            </a:lvl1pPr>
          </a:lstStyle>
          <a:p>
            <a:fld id="{5CEC3A8C-62E1-432C-8119-E1C2E9D8F408}" type="slidenum">
              <a:rPr lang="fr-FR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Arial" charset="0"/>
        </a:defRPr>
      </a:lvl2pPr>
      <a:lvl3pPr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Arial" charset="0"/>
        </a:defRPr>
      </a:lvl3pPr>
      <a:lvl4pPr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Arial" charset="0"/>
        </a:defRPr>
      </a:lvl4pPr>
      <a:lvl5pPr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Arial" charset="0"/>
        </a:defRPr>
      </a:lvl5pPr>
      <a:lvl6pPr marL="457200"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Arial" charset="0"/>
        </a:defRPr>
      </a:lvl6pPr>
      <a:lvl7pPr marL="914400"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Arial" charset="0"/>
        </a:defRPr>
      </a:lvl7pPr>
      <a:lvl8pPr marL="1371600"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Arial" charset="0"/>
        </a:defRPr>
      </a:lvl8pPr>
      <a:lvl9pPr marL="1828800" algn="ctr" defTabSz="3986213" rtl="0" fontAlgn="base">
        <a:spcBef>
          <a:spcPct val="0"/>
        </a:spcBef>
        <a:spcAft>
          <a:spcPct val="0"/>
        </a:spcAft>
        <a:defRPr sz="19200">
          <a:solidFill>
            <a:schemeClr val="tx2"/>
          </a:solidFill>
          <a:latin typeface="Arial" charset="0"/>
        </a:defRPr>
      </a:lvl9pPr>
    </p:titleStyle>
    <p:bodyStyle>
      <a:lvl1pPr marL="1495425" indent="-1495425" algn="l" defTabSz="3986213" rtl="0" fontAlgn="base">
        <a:spcBef>
          <a:spcPct val="20000"/>
        </a:spcBef>
        <a:spcAft>
          <a:spcPct val="0"/>
        </a:spcAft>
        <a:buChar char="•"/>
        <a:defRPr sz="14000">
          <a:solidFill>
            <a:schemeClr val="tx1"/>
          </a:solidFill>
          <a:latin typeface="+mn-lt"/>
          <a:ea typeface="+mn-ea"/>
          <a:cs typeface="+mn-cs"/>
        </a:defRPr>
      </a:lvl1pPr>
      <a:lvl2pPr marL="3238500" indent="-1244600" algn="l" defTabSz="3986213" rtl="0" fontAlgn="base">
        <a:spcBef>
          <a:spcPct val="20000"/>
        </a:spcBef>
        <a:spcAft>
          <a:spcPct val="0"/>
        </a:spcAft>
        <a:buChar char="–"/>
        <a:defRPr sz="12200">
          <a:solidFill>
            <a:schemeClr val="tx1"/>
          </a:solidFill>
          <a:latin typeface="+mn-lt"/>
        </a:defRPr>
      </a:lvl2pPr>
      <a:lvl3pPr marL="4983163" indent="-996950" algn="l" defTabSz="3986213" rtl="0" fontAlgn="base">
        <a:spcBef>
          <a:spcPct val="20000"/>
        </a:spcBef>
        <a:spcAft>
          <a:spcPct val="0"/>
        </a:spcAft>
        <a:buChar char="•"/>
        <a:defRPr sz="10500">
          <a:solidFill>
            <a:schemeClr val="tx1"/>
          </a:solidFill>
          <a:latin typeface="+mn-lt"/>
        </a:defRPr>
      </a:lvl3pPr>
      <a:lvl4pPr marL="6977063" indent="-996950" algn="l" defTabSz="3986213" rtl="0" fontAlgn="base">
        <a:spcBef>
          <a:spcPct val="20000"/>
        </a:spcBef>
        <a:spcAft>
          <a:spcPct val="0"/>
        </a:spcAft>
        <a:buChar char="–"/>
        <a:defRPr sz="8700">
          <a:solidFill>
            <a:schemeClr val="tx1"/>
          </a:solidFill>
          <a:latin typeface="+mn-lt"/>
        </a:defRPr>
      </a:lvl4pPr>
      <a:lvl5pPr marL="8969375" indent="-996950" algn="l" defTabSz="39862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5pPr>
      <a:lvl6pPr marL="9426575" indent="-996950" algn="l" defTabSz="39862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6pPr>
      <a:lvl7pPr marL="9883775" indent="-996950" algn="l" defTabSz="39862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7pPr>
      <a:lvl8pPr marL="10340975" indent="-996950" algn="l" defTabSz="39862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8pPr>
      <a:lvl9pPr marL="10798175" indent="-996950" algn="l" defTabSz="3986213" rtl="0" fontAlgn="base">
        <a:spcBef>
          <a:spcPct val="20000"/>
        </a:spcBef>
        <a:spcAft>
          <a:spcPct val="0"/>
        </a:spcAft>
        <a:buChar char="»"/>
        <a:defRPr sz="87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24" Type="http://schemas.openxmlformats.org/officeDocument/2006/relationships/image" Target="../media/image22.jpe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339"/>
          <p:cNvSpPr/>
          <p:nvPr/>
        </p:nvSpPr>
        <p:spPr bwMode="auto">
          <a:xfrm>
            <a:off x="280883" y="16760792"/>
            <a:ext cx="29603570" cy="11501518"/>
          </a:xfrm>
          <a:prstGeom prst="rect">
            <a:avLst/>
          </a:prstGeom>
          <a:solidFill>
            <a:srgbClr val="999999"/>
          </a:solidFill>
          <a:ln w="76200" cap="flat" cmpd="sng" algn="ctr">
            <a:solidFill>
              <a:srgbClr val="8E246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9862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7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057" name="Picture 9" descr="Hau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279975" cy="24209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" y="6469063"/>
            <a:ext cx="30279975" cy="341391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l">
              <a:lnSpc>
                <a:spcPct val="80000"/>
              </a:lnSpc>
            </a:pPr>
            <a:r>
              <a:rPr lang="fr-FR" sz="4800" dirty="0" smtClean="0">
                <a:latin typeface="Gill Sans MT" pitchFamily="34" charset="0"/>
              </a:rPr>
              <a:t>Etudiante : </a:t>
            </a:r>
            <a:r>
              <a:rPr lang="fr-FR" sz="4800" dirty="0" err="1" smtClean="0">
                <a:latin typeface="Gill Sans MT" pitchFamily="34" charset="0"/>
              </a:rPr>
              <a:t>Lamice</a:t>
            </a:r>
            <a:r>
              <a:rPr lang="fr-FR" sz="4800" dirty="0" smtClean="0">
                <a:latin typeface="Gill Sans MT" pitchFamily="34" charset="0"/>
              </a:rPr>
              <a:t> </a:t>
            </a:r>
            <a:r>
              <a:rPr lang="fr-FR" sz="4800" dirty="0" err="1" smtClean="0">
                <a:latin typeface="Gill Sans MT" pitchFamily="34" charset="0"/>
              </a:rPr>
              <a:t>DENGUIR</a:t>
            </a:r>
            <a:r>
              <a:rPr lang="fr-FR" sz="4800" baseline="40000" dirty="0" err="1" smtClean="0">
                <a:latin typeface="Gill Sans MT" pitchFamily="34" charset="0"/>
              </a:rPr>
              <a:t>a</a:t>
            </a:r>
            <a:r>
              <a:rPr lang="fr-FR" sz="4800" dirty="0" smtClean="0">
                <a:latin typeface="Gill Sans MT" pitchFamily="34" charset="0"/>
              </a:rPr>
              <a:t>,  Tuteurs : Guillaume </a:t>
            </a:r>
            <a:r>
              <a:rPr lang="fr-FR" sz="4800" dirty="0" err="1" smtClean="0">
                <a:latin typeface="Gill Sans MT" pitchFamily="34" charset="0"/>
              </a:rPr>
              <a:t>FROMENTIN</a:t>
            </a:r>
            <a:r>
              <a:rPr lang="fr-FR" sz="4800" baseline="40000" dirty="0" err="1" smtClean="0">
                <a:latin typeface="Gill Sans MT" pitchFamily="34" charset="0"/>
              </a:rPr>
              <a:t>b</a:t>
            </a:r>
            <a:r>
              <a:rPr lang="fr-FR" sz="4800" dirty="0" smtClean="0">
                <a:latin typeface="Gill Sans MT" pitchFamily="34" charset="0"/>
              </a:rPr>
              <a:t> &amp; José </a:t>
            </a:r>
            <a:r>
              <a:rPr lang="fr-FR" sz="4800" dirty="0" err="1" smtClean="0">
                <a:latin typeface="Gill Sans MT" pitchFamily="34" charset="0"/>
              </a:rPr>
              <a:t>OUTEIRO</a:t>
            </a:r>
            <a:r>
              <a:rPr lang="fr-FR" sz="4800" baseline="40000" dirty="0" err="1" smtClean="0">
                <a:latin typeface="Gill Sans MT" pitchFamily="34" charset="0"/>
              </a:rPr>
              <a:t>b</a:t>
            </a:r>
            <a:endParaRPr lang="fr-FR" sz="4800" baseline="40000" dirty="0" smtClean="0">
              <a:latin typeface="Gill Sans MT" pitchFamily="34" charset="0"/>
            </a:endParaRPr>
          </a:p>
          <a:p>
            <a:pPr>
              <a:lnSpc>
                <a:spcPct val="80000"/>
              </a:lnSpc>
            </a:pPr>
            <a:endParaRPr lang="fr-FR" sz="1400" baseline="40000" dirty="0" smtClean="0">
              <a:latin typeface="Gill Sans MT" pitchFamily="34" charset="0"/>
            </a:endParaRPr>
          </a:p>
          <a:p>
            <a:pPr algn="l">
              <a:lnSpc>
                <a:spcPct val="80000"/>
              </a:lnSpc>
            </a:pPr>
            <a:r>
              <a:rPr lang="fr-FR" sz="2800" baseline="40000" dirty="0" smtClean="0">
                <a:latin typeface="Gill Sans MT" pitchFamily="34" charset="0"/>
              </a:rPr>
              <a:t>a</a:t>
            </a:r>
            <a:r>
              <a:rPr lang="fr-FR" sz="2800" dirty="0" smtClean="0">
                <a:latin typeface="Gill Sans MT" pitchFamily="34" charset="0"/>
              </a:rPr>
              <a:t> Master MAGIS – Filière Techniques de coupes innovantes et procédés d’usinage intelligents </a:t>
            </a:r>
            <a:r>
              <a:rPr lang="fr-FR" sz="2800" baseline="40000" dirty="0" smtClean="0">
                <a:latin typeface="Gill Sans MT" pitchFamily="34" charset="0"/>
              </a:rPr>
              <a:t>b</a:t>
            </a:r>
            <a:r>
              <a:rPr lang="fr-FR" sz="2800" dirty="0" smtClean="0">
                <a:latin typeface="Gill Sans MT" pitchFamily="34" charset="0"/>
              </a:rPr>
              <a:t> </a:t>
            </a:r>
            <a:r>
              <a:rPr lang="fr-FR" sz="2800" dirty="0">
                <a:latin typeface="Gill Sans MT" pitchFamily="34" charset="0"/>
              </a:rPr>
              <a:t>Laboratoire Bourguignon des Matériaux et Procédés, Rue Porte de Paris, 71250 </a:t>
            </a:r>
            <a:r>
              <a:rPr lang="fr-FR" sz="2800" dirty="0" smtClean="0">
                <a:latin typeface="Gill Sans MT" pitchFamily="34" charset="0"/>
              </a:rPr>
              <a:t>Cluny</a:t>
            </a:r>
          </a:p>
          <a:p>
            <a:pPr algn="l">
              <a:lnSpc>
                <a:spcPct val="80000"/>
              </a:lnSpc>
            </a:pPr>
            <a:r>
              <a:rPr lang="fr-FR" sz="2800" dirty="0" smtClean="0">
                <a:latin typeface="Gill Sans MT" pitchFamily="34" charset="0"/>
              </a:rPr>
              <a:t>Contact : Lamice.DENGUIR@ensam.eu</a:t>
            </a:r>
            <a:endParaRPr lang="fr-FR" sz="2800" dirty="0">
              <a:latin typeface="Gill Sans MT" pitchFamily="34" charset="0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2420938"/>
            <a:ext cx="30279975" cy="1557337"/>
          </a:xfrm>
          <a:prstGeom prst="rect">
            <a:avLst/>
          </a:prstGeom>
          <a:solidFill>
            <a:srgbClr val="999999"/>
          </a:solidFill>
          <a:ln w="9525">
            <a:solidFill>
              <a:srgbClr val="9999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4911725"/>
            <a:ext cx="30279975" cy="1557338"/>
          </a:xfrm>
          <a:prstGeom prst="rect">
            <a:avLst/>
          </a:prstGeom>
          <a:solidFill>
            <a:srgbClr val="999999"/>
          </a:solidFill>
          <a:ln w="9525">
            <a:solidFill>
              <a:srgbClr val="9999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2053" name="Picture 5" descr="image_centrale_3"/>
          <p:cNvPicPr>
            <a:picLocks noChangeAspect="1" noChangeArrowheads="1"/>
          </p:cNvPicPr>
          <p:nvPr/>
        </p:nvPicPr>
        <p:blipFill>
          <a:blip r:embed="rId4" cstate="print">
            <a:lum bright="4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62238"/>
            <a:ext cx="30279975" cy="35671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80949" y="2758944"/>
            <a:ext cx="28432324" cy="3240360"/>
          </a:xfrm>
        </p:spPr>
        <p:txBody>
          <a:bodyPr/>
          <a:lstStyle/>
          <a:p>
            <a:pPr algn="l"/>
            <a:r>
              <a:rPr lang="fr-FR" sz="7200" b="1" dirty="0" smtClean="0">
                <a:solidFill>
                  <a:srgbClr val="8E2462"/>
                </a:solidFill>
                <a:latin typeface="Gill Sans MT" pitchFamily="34" charset="0"/>
              </a:rPr>
              <a:t>Caractérisation de l’intégrité de surface des </a:t>
            </a:r>
            <a:br>
              <a:rPr lang="fr-FR" sz="7200" b="1" dirty="0" smtClean="0">
                <a:solidFill>
                  <a:srgbClr val="8E2462"/>
                </a:solidFill>
                <a:latin typeface="Gill Sans MT" pitchFamily="34" charset="0"/>
              </a:rPr>
            </a:br>
            <a:r>
              <a:rPr lang="fr-FR" sz="7200" b="1" dirty="0" smtClean="0">
                <a:solidFill>
                  <a:srgbClr val="8E2462"/>
                </a:solidFill>
                <a:latin typeface="Gill Sans MT" pitchFamily="34" charset="0"/>
              </a:rPr>
              <a:t>sous-couches affectées par le tournage en superfinition du Cu-c2 </a:t>
            </a:r>
            <a:r>
              <a:rPr lang="fr-FR" sz="7200" dirty="0">
                <a:latin typeface="Gill Sans MT" pitchFamily="34" charset="0"/>
              </a:rPr>
              <a:t/>
            </a:r>
            <a:br>
              <a:rPr lang="fr-FR" sz="7200" dirty="0">
                <a:latin typeface="Gill Sans MT" pitchFamily="34" charset="0"/>
              </a:rPr>
            </a:br>
            <a:r>
              <a:rPr lang="fr-FR" sz="5400" b="1" dirty="0" smtClean="0">
                <a:solidFill>
                  <a:srgbClr val="F29400"/>
                </a:solidFill>
                <a:latin typeface="Gill Sans MT" pitchFamily="34" charset="0"/>
              </a:rPr>
              <a:t>et impact sur la résistance à la corrosion</a:t>
            </a:r>
            <a:endParaRPr lang="fr-FR" sz="5400" b="1" dirty="0">
              <a:solidFill>
                <a:srgbClr val="F29400"/>
              </a:solidFill>
              <a:latin typeface="Gill Sans MT" pitchFamily="34" charset="0"/>
            </a:endParaRP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25400" y="452438"/>
            <a:ext cx="28579763" cy="172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398660" tIns="199330" rIns="398660" bIns="199330">
            <a:spAutoFit/>
          </a:bodyPr>
          <a:lstStyle>
            <a:lvl1pPr defTabSz="3986213">
              <a:defRPr>
                <a:solidFill>
                  <a:schemeClr val="tx1"/>
                </a:solidFill>
                <a:latin typeface="Arial" charset="0"/>
              </a:defRPr>
            </a:lvl1pPr>
            <a:lvl2pPr marL="1993900" defTabSz="3986213">
              <a:defRPr>
                <a:solidFill>
                  <a:schemeClr val="tx1"/>
                </a:solidFill>
                <a:latin typeface="Arial" charset="0"/>
              </a:defRPr>
            </a:lvl2pPr>
            <a:lvl3pPr marL="3986213" defTabSz="3986213">
              <a:defRPr>
                <a:solidFill>
                  <a:schemeClr val="tx1"/>
                </a:solidFill>
                <a:latin typeface="Arial" charset="0"/>
              </a:defRPr>
            </a:lvl3pPr>
            <a:lvl4pPr marL="5980113" defTabSz="3986213">
              <a:defRPr>
                <a:solidFill>
                  <a:schemeClr val="tx1"/>
                </a:solidFill>
                <a:latin typeface="Arial" charset="0"/>
              </a:defRPr>
            </a:lvl4pPr>
            <a:lvl5pPr marL="7972425" defTabSz="3986213">
              <a:defRPr>
                <a:solidFill>
                  <a:schemeClr val="tx1"/>
                </a:solidFill>
                <a:latin typeface="Arial" charset="0"/>
              </a:defRPr>
            </a:lvl5pPr>
            <a:lvl6pPr marL="8429625" defTabSz="39862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8886825" defTabSz="39862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9344025" defTabSz="39862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9801225" defTabSz="39862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8700" b="1" dirty="0" smtClean="0">
                <a:latin typeface="Gill Sans MT" pitchFamily="34" charset="0"/>
              </a:rPr>
              <a:t>Materials &amp; Engineering Sciences in Paris</a:t>
            </a:r>
            <a:endParaRPr lang="en-US" sz="8700" b="1" dirty="0">
              <a:latin typeface="Gill Sans MT" pitchFamily="34" charset="0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9882982"/>
            <a:ext cx="30279975" cy="309563"/>
          </a:xfrm>
          <a:prstGeom prst="rect">
            <a:avLst/>
          </a:prstGeom>
          <a:solidFill>
            <a:srgbClr val="999999"/>
          </a:solidFill>
          <a:ln w="9525">
            <a:solidFill>
              <a:srgbClr val="9999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1" name="Groupe 40"/>
          <p:cNvGrpSpPr/>
          <p:nvPr/>
        </p:nvGrpSpPr>
        <p:grpSpPr>
          <a:xfrm>
            <a:off x="306339" y="10569937"/>
            <a:ext cx="29553443" cy="5405308"/>
            <a:chOff x="306339" y="9935320"/>
            <a:chExt cx="29553443" cy="5405308"/>
          </a:xfrm>
        </p:grpSpPr>
        <p:grpSp>
          <p:nvGrpSpPr>
            <p:cNvPr id="38" name="Groupe 37"/>
            <p:cNvGrpSpPr/>
            <p:nvPr/>
          </p:nvGrpSpPr>
          <p:grpSpPr>
            <a:xfrm>
              <a:off x="306339" y="9935320"/>
              <a:ext cx="13476326" cy="5405308"/>
              <a:chOff x="306339" y="9935320"/>
              <a:chExt cx="13476326" cy="5405308"/>
            </a:xfrm>
          </p:grpSpPr>
          <p:sp>
            <p:nvSpPr>
              <p:cNvPr id="19" name="AutoShape 20"/>
              <p:cNvSpPr>
                <a:spLocks noChangeArrowheads="1"/>
              </p:cNvSpPr>
              <p:nvPr/>
            </p:nvSpPr>
            <p:spPr bwMode="auto">
              <a:xfrm>
                <a:off x="306339" y="10742960"/>
                <a:ext cx="13476326" cy="4597668"/>
              </a:xfrm>
              <a:prstGeom prst="rect">
                <a:avLst/>
              </a:prstGeom>
              <a:solidFill>
                <a:schemeClr val="bg1"/>
              </a:solidFill>
              <a:ln w="127000">
                <a:solidFill>
                  <a:srgbClr val="8E246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" name="AutoShape 21"/>
              <p:cNvSpPr>
                <a:spLocks noChangeArrowheads="1"/>
              </p:cNvSpPr>
              <p:nvPr/>
            </p:nvSpPr>
            <p:spPr bwMode="auto">
              <a:xfrm>
                <a:off x="306339" y="9935320"/>
                <a:ext cx="13476326" cy="990600"/>
              </a:xfrm>
              <a:prstGeom prst="rect">
                <a:avLst/>
              </a:prstGeom>
              <a:solidFill>
                <a:srgbClr val="8E2462"/>
              </a:solidFill>
              <a:ln w="127000">
                <a:solidFill>
                  <a:srgbClr val="8E2462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fr-FR" sz="4800" b="1" dirty="0">
                    <a:solidFill>
                      <a:schemeClr val="bg1"/>
                    </a:solidFill>
                  </a:rPr>
                  <a:t>Contexte </a:t>
                </a:r>
                <a:r>
                  <a:rPr lang="fr-FR" sz="4800" b="1" dirty="0" smtClean="0">
                    <a:solidFill>
                      <a:schemeClr val="bg1"/>
                    </a:solidFill>
                  </a:rPr>
                  <a:t>de l’étude</a:t>
                </a:r>
                <a:endParaRPr lang="fr-FR" sz="4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ZoneTexte 3"/>
              <p:cNvSpPr txBox="1"/>
              <p:nvPr/>
            </p:nvSpPr>
            <p:spPr>
              <a:xfrm>
                <a:off x="423759" y="11221512"/>
                <a:ext cx="13287468" cy="3785652"/>
              </a:xfrm>
              <a:prstGeom prst="rect">
                <a:avLst/>
              </a:prstGeom>
              <a:noFill/>
              <a:ln w="101600" cmpd="sng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fr-FR" sz="3200" b="1" dirty="0" smtClean="0">
                    <a:latin typeface="Arial" pitchFamily="34" charset="0"/>
                    <a:cs typeface="+mn-cs"/>
                  </a:rPr>
                  <a:t>Tournage de superfinition du Cuivre Cu-c2 </a:t>
                </a:r>
                <a:br>
                  <a:rPr lang="fr-FR" sz="3200" b="1" dirty="0" smtClean="0">
                    <a:latin typeface="Arial" pitchFamily="34" charset="0"/>
                    <a:cs typeface="+mn-cs"/>
                  </a:rPr>
                </a:br>
                <a:r>
                  <a:rPr lang="fr-FR" sz="1600" b="1" dirty="0" smtClean="0">
                    <a:latin typeface="Arial" pitchFamily="34" charset="0"/>
                    <a:cs typeface="+mn-cs"/>
                  </a:rPr>
                  <a:t> </a:t>
                </a:r>
                <a:endParaRPr lang="fr-FR" sz="3200" b="1" dirty="0">
                  <a:latin typeface="Arial" pitchFamily="34" charset="0"/>
                </a:endParaRPr>
              </a:p>
              <a:p>
                <a:pPr marL="457200" indent="-457200">
                  <a:buFont typeface="Wingdings" pitchFamily="2" charset="2"/>
                  <a:buChar char="Ø"/>
                  <a:defRPr/>
                </a:pPr>
                <a:r>
                  <a:rPr lang="fr-FR" sz="3200" dirty="0" smtClean="0">
                    <a:latin typeface="Arial" pitchFamily="34" charset="0"/>
                  </a:rPr>
                  <a:t>Développement d’études portant sur la coupe des matériaux ductiles</a:t>
                </a:r>
              </a:p>
              <a:p>
                <a:pPr marL="457200" indent="-457200">
                  <a:buFont typeface="Wingdings" pitchFamily="2" charset="2"/>
                  <a:buChar char="Ø"/>
                  <a:defRPr/>
                </a:pPr>
                <a:r>
                  <a:rPr lang="fr-FR" sz="3200" dirty="0" smtClean="0">
                    <a:latin typeface="Arial" pitchFamily="34" charset="0"/>
                  </a:rPr>
                  <a:t>Relation Procédés – Matériaux – Intégrité de surface</a:t>
                </a:r>
              </a:p>
              <a:p>
                <a:pPr marL="457200" indent="-457200">
                  <a:buFont typeface="Wingdings" pitchFamily="2" charset="2"/>
                  <a:buChar char="Ø"/>
                  <a:defRPr/>
                </a:pPr>
                <a:r>
                  <a:rPr lang="fr-FR" sz="3200" dirty="0" smtClean="0">
                    <a:latin typeface="Arial" pitchFamily="34" charset="0"/>
                  </a:rPr>
                  <a:t>Usinage de précision</a:t>
                </a:r>
              </a:p>
              <a:p>
                <a:pPr marL="457200" indent="-457200">
                  <a:buFont typeface="Wingdings" pitchFamily="2" charset="2"/>
                  <a:buChar char="Ø"/>
                  <a:defRPr/>
                </a:pPr>
                <a:r>
                  <a:rPr lang="fr-FR" sz="3200" dirty="0" smtClean="0">
                    <a:latin typeface="Arial" pitchFamily="34" charset="0"/>
                  </a:rPr>
                  <a:t>Compréhension du contact en dépouille, donc prévision de    l’endommagement des outils</a:t>
                </a:r>
              </a:p>
              <a:p>
                <a:pPr marL="457200" indent="-457200">
                  <a:buFont typeface="Wingdings" pitchFamily="2" charset="2"/>
                  <a:buChar char="Ø"/>
                  <a:defRPr/>
                </a:pPr>
                <a:r>
                  <a:rPr lang="fr-FR" sz="3200" dirty="0" smtClean="0">
                    <a:latin typeface="Arial" pitchFamily="34" charset="0"/>
                  </a:rPr>
                  <a:t>Intégrité des surfaces usinées / durabilité des produits à fortes valeurs</a:t>
                </a:r>
                <a:endParaRPr lang="fr-FR" sz="3200" dirty="0">
                  <a:latin typeface="Arial" pitchFamily="34" charset="0"/>
                </a:endParaRPr>
              </a:p>
            </p:txBody>
          </p:sp>
        </p:grpSp>
        <p:grpSp>
          <p:nvGrpSpPr>
            <p:cNvPr id="39" name="Groupe 38"/>
            <p:cNvGrpSpPr/>
            <p:nvPr/>
          </p:nvGrpSpPr>
          <p:grpSpPr>
            <a:xfrm>
              <a:off x="14068417" y="9935320"/>
              <a:ext cx="15791365" cy="5405037"/>
              <a:chOff x="14068417" y="9935320"/>
              <a:chExt cx="15791365" cy="5405037"/>
            </a:xfrm>
          </p:grpSpPr>
          <p:grpSp>
            <p:nvGrpSpPr>
              <p:cNvPr id="37" name="Groupe 36"/>
              <p:cNvGrpSpPr/>
              <p:nvPr/>
            </p:nvGrpSpPr>
            <p:grpSpPr>
              <a:xfrm>
                <a:off x="14068417" y="9935320"/>
                <a:ext cx="15791365" cy="5405037"/>
                <a:chOff x="14068417" y="9935320"/>
                <a:chExt cx="15791365" cy="5405037"/>
              </a:xfrm>
            </p:grpSpPr>
            <p:sp>
              <p:nvSpPr>
                <p:cNvPr id="22" name="AutoShape 30"/>
                <p:cNvSpPr>
                  <a:spLocks noChangeArrowheads="1"/>
                </p:cNvSpPr>
                <p:nvPr/>
              </p:nvSpPr>
              <p:spPr bwMode="auto">
                <a:xfrm>
                  <a:off x="14068417" y="10739785"/>
                  <a:ext cx="15791365" cy="4600572"/>
                </a:xfrm>
                <a:prstGeom prst="rect">
                  <a:avLst/>
                </a:prstGeom>
                <a:solidFill>
                  <a:schemeClr val="bg1"/>
                </a:solidFill>
                <a:ln w="127000">
                  <a:solidFill>
                    <a:srgbClr val="8E246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fr-FR" sz="4000"/>
                </a:p>
              </p:txBody>
            </p:sp>
            <p:sp>
              <p:nvSpPr>
                <p:cNvPr id="23" name="AutoShape 32"/>
                <p:cNvSpPr>
                  <a:spLocks noChangeArrowheads="1"/>
                </p:cNvSpPr>
                <p:nvPr/>
              </p:nvSpPr>
              <p:spPr bwMode="auto">
                <a:xfrm>
                  <a:off x="14068417" y="9935320"/>
                  <a:ext cx="15791365" cy="990600"/>
                </a:xfrm>
                <a:prstGeom prst="rect">
                  <a:avLst/>
                </a:prstGeom>
                <a:solidFill>
                  <a:srgbClr val="8E2462"/>
                </a:solidFill>
                <a:ln w="127000">
                  <a:solidFill>
                    <a:srgbClr val="8E2462"/>
                  </a:solidFill>
                  <a:round/>
                  <a:headEnd/>
                  <a:tailEnd/>
                </a:ln>
                <a:effectLst/>
                <a:extLst/>
              </p:spPr>
              <p:txBody>
                <a:bodyPr wrap="none" anchor="ctr"/>
                <a:lstStyle/>
                <a:p>
                  <a:pPr algn="ctr"/>
                  <a:r>
                    <a:rPr lang="fr-FR" sz="4800" b="1" dirty="0" smtClean="0">
                      <a:solidFill>
                        <a:schemeClr val="bg1"/>
                      </a:solidFill>
                    </a:rPr>
                    <a:t>Objectifs et Verrous scientifiques</a:t>
                  </a:r>
                  <a:endParaRPr lang="fr-FR" sz="5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4" name="ZoneTexte 5"/>
              <p:cNvSpPr txBox="1"/>
              <p:nvPr/>
            </p:nvSpPr>
            <p:spPr>
              <a:xfrm>
                <a:off x="14377369" y="11125515"/>
                <a:ext cx="15407408" cy="4098558"/>
              </a:xfrm>
              <a:prstGeom prst="rect">
                <a:avLst/>
              </a:prstGeom>
              <a:noFill/>
              <a:ln w="101600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fr-FR" sz="3200" b="1" dirty="0" smtClean="0">
                    <a:latin typeface="Arial" pitchFamily="34" charset="0"/>
                  </a:rPr>
                  <a:t>Objectifs </a:t>
                </a:r>
              </a:p>
              <a:p>
                <a:pPr marL="457200" indent="-457200">
                  <a:buFont typeface="Wingdings" pitchFamily="2" charset="2"/>
                  <a:buChar char="Ø"/>
                  <a:defRPr/>
                </a:pPr>
                <a:r>
                  <a:rPr lang="fr-FR" sz="3200" dirty="0" smtClean="0">
                    <a:latin typeface="Arial" pitchFamily="34" charset="0"/>
                  </a:rPr>
                  <a:t>Comparer les effets de la coupe orthogonale à la coupe 3D sur l’intégrité de surface des sous-couches affectées par la superfinition du Cu-c2</a:t>
                </a:r>
              </a:p>
              <a:p>
                <a:pPr marL="457200" indent="-457200">
                  <a:buFont typeface="Wingdings" pitchFamily="2" charset="2"/>
                  <a:buChar char="Ø"/>
                  <a:defRPr/>
                </a:pPr>
                <a:r>
                  <a:rPr lang="fr-FR" sz="3200" dirty="0" smtClean="0">
                    <a:latin typeface="Arial" pitchFamily="34" charset="0"/>
                  </a:rPr>
                  <a:t>Identifier l’effet des modifications métallurgiques sur la résistance à la corrosion</a:t>
                </a:r>
                <a:r>
                  <a:rPr lang="fr-FR" sz="3200" dirty="0">
                    <a:latin typeface="Arial" pitchFamily="34" charset="0"/>
                  </a:rPr>
                  <a:t> </a:t>
                </a:r>
                <a:r>
                  <a:rPr lang="fr-FR" sz="3200" dirty="0" smtClean="0">
                    <a:latin typeface="Arial" pitchFamily="34" charset="0"/>
                  </a:rPr>
                  <a:t>de la surface finie</a:t>
                </a:r>
              </a:p>
              <a:p>
                <a:pPr marL="457200" indent="-457200">
                  <a:buFont typeface="Wingdings" pitchFamily="2" charset="2"/>
                  <a:buChar char="Ø"/>
                  <a:defRPr/>
                </a:pPr>
                <a:endParaRPr lang="fr-FR" sz="1200" b="1" dirty="0" smtClean="0">
                  <a:latin typeface="Arial" pitchFamily="34" charset="0"/>
                </a:endParaRPr>
              </a:p>
              <a:p>
                <a:pPr>
                  <a:spcAft>
                    <a:spcPts val="1000"/>
                  </a:spcAft>
                  <a:defRPr/>
                </a:pPr>
                <a:r>
                  <a:rPr lang="fr-FR" sz="3200" b="1" dirty="0" smtClean="0">
                    <a:latin typeface="Arial" pitchFamily="34" charset="0"/>
                  </a:rPr>
                  <a:t>Verrous scientifiques :</a:t>
                </a:r>
              </a:p>
              <a:p>
                <a:pPr marL="571500" indent="-571500">
                  <a:buFont typeface="Wingdings" pitchFamily="2" charset="2"/>
                  <a:buChar char="Ø"/>
                  <a:defRPr/>
                </a:pPr>
                <a:r>
                  <a:rPr lang="fr-FR" sz="3200" dirty="0" smtClean="0">
                    <a:latin typeface="Arial" pitchFamily="34" charset="0"/>
                  </a:rPr>
                  <a:t>Interaction matériaux-procédés</a:t>
                </a:r>
              </a:p>
            </p:txBody>
          </p:sp>
        </p:grpSp>
      </p:grpSp>
      <p:grpSp>
        <p:nvGrpSpPr>
          <p:cNvPr id="50" name="Groupe 49"/>
          <p:cNvGrpSpPr/>
          <p:nvPr/>
        </p:nvGrpSpPr>
        <p:grpSpPr>
          <a:xfrm>
            <a:off x="280883" y="16297808"/>
            <a:ext cx="29646771" cy="23608896"/>
            <a:chOff x="377777" y="17696358"/>
            <a:chExt cx="29646771" cy="23608896"/>
          </a:xfrm>
        </p:grpSpPr>
        <p:grpSp>
          <p:nvGrpSpPr>
            <p:cNvPr id="36" name="Groupe 35"/>
            <p:cNvGrpSpPr/>
            <p:nvPr/>
          </p:nvGrpSpPr>
          <p:grpSpPr>
            <a:xfrm>
              <a:off x="16237013" y="29946612"/>
              <a:ext cx="13787535" cy="11358642"/>
              <a:chOff x="16237013" y="29813777"/>
              <a:chExt cx="13787535" cy="12626353"/>
            </a:xfrm>
          </p:grpSpPr>
          <p:sp>
            <p:nvSpPr>
              <p:cNvPr id="25" name="AutoShape 30"/>
              <p:cNvSpPr>
                <a:spLocks noChangeArrowheads="1"/>
              </p:cNvSpPr>
              <p:nvPr/>
            </p:nvSpPr>
            <p:spPr bwMode="auto">
              <a:xfrm>
                <a:off x="16237013" y="30766709"/>
                <a:ext cx="13787535" cy="11673421"/>
              </a:xfrm>
              <a:prstGeom prst="rect">
                <a:avLst/>
              </a:prstGeom>
              <a:solidFill>
                <a:schemeClr val="bg1"/>
              </a:solidFill>
              <a:ln w="127000">
                <a:solidFill>
                  <a:srgbClr val="8E2462"/>
                </a:solidFill>
                <a:round/>
                <a:headEnd/>
                <a:tailEnd/>
              </a:ln>
              <a:effectLst/>
              <a:extLst/>
            </p:spPr>
            <p:txBody>
              <a:bodyPr wrap="none"/>
              <a:lstStyle/>
              <a:p>
                <a:endParaRPr lang="fr-FR" sz="4000" dirty="0"/>
              </a:p>
            </p:txBody>
          </p:sp>
          <p:sp>
            <p:nvSpPr>
              <p:cNvPr id="26" name="AutoShape 32"/>
              <p:cNvSpPr>
                <a:spLocks noChangeArrowheads="1"/>
              </p:cNvSpPr>
              <p:nvPr/>
            </p:nvSpPr>
            <p:spPr bwMode="auto">
              <a:xfrm>
                <a:off x="16237013" y="29813777"/>
                <a:ext cx="13787535" cy="1196534"/>
              </a:xfrm>
              <a:prstGeom prst="rect">
                <a:avLst/>
              </a:prstGeom>
              <a:solidFill>
                <a:srgbClr val="8E2462"/>
              </a:solidFill>
              <a:ln w="127000">
                <a:solidFill>
                  <a:srgbClr val="8E2462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fr-FR" sz="4800" b="1" dirty="0" smtClean="0">
                    <a:solidFill>
                      <a:schemeClr val="bg1"/>
                    </a:solidFill>
                  </a:rPr>
                  <a:t>Paramètres de l’étude</a:t>
                </a:r>
                <a:endParaRPr lang="fr-FR" sz="4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377777" y="17696358"/>
              <a:ext cx="29575332" cy="820174"/>
            </a:xfrm>
            <a:prstGeom prst="rect">
              <a:avLst/>
            </a:prstGeom>
            <a:solidFill>
              <a:srgbClr val="8E2462"/>
            </a:solidFill>
            <a:ln w="127000">
              <a:solidFill>
                <a:srgbClr val="8E2462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fr-FR" sz="4800" b="1" dirty="0" smtClean="0">
                  <a:solidFill>
                    <a:schemeClr val="bg1"/>
                  </a:solidFill>
                </a:rPr>
                <a:t>Démarche scientifique</a:t>
              </a:r>
              <a:endParaRPr lang="fr-FR" sz="4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9" name="AutoShape 30"/>
          <p:cNvSpPr>
            <a:spLocks noChangeArrowheads="1"/>
          </p:cNvSpPr>
          <p:nvPr/>
        </p:nvSpPr>
        <p:spPr bwMode="auto">
          <a:xfrm>
            <a:off x="306339" y="39892806"/>
            <a:ext cx="29624881" cy="2650450"/>
          </a:xfrm>
          <a:prstGeom prst="rect">
            <a:avLst/>
          </a:prstGeom>
          <a:noFill/>
          <a:ln w="127000">
            <a:noFill/>
            <a:round/>
            <a:headEnd/>
            <a:tailEnd/>
          </a:ln>
          <a:effectLst/>
          <a:extLst/>
        </p:spPr>
        <p:txBody>
          <a:bodyPr wrap="none"/>
          <a:lstStyle/>
          <a:p>
            <a:endParaRPr lang="fr-FR" sz="4000" dirty="0"/>
          </a:p>
        </p:txBody>
      </p:sp>
      <p:sp>
        <p:nvSpPr>
          <p:cNvPr id="30" name="AutoShape 32"/>
          <p:cNvSpPr>
            <a:spLocks noChangeArrowheads="1"/>
          </p:cNvSpPr>
          <p:nvPr/>
        </p:nvSpPr>
        <p:spPr bwMode="auto">
          <a:xfrm>
            <a:off x="306339" y="40632896"/>
            <a:ext cx="29624881" cy="702568"/>
          </a:xfrm>
          <a:prstGeom prst="rect">
            <a:avLst/>
          </a:prstGeom>
          <a:noFill/>
          <a:ln w="127000">
            <a:noFill/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fr-FR" sz="4800" b="1" dirty="0" smtClean="0"/>
              <a:t>Bibliographie</a:t>
            </a:r>
            <a:endParaRPr lang="fr-FR" sz="4800" b="1" dirty="0"/>
          </a:p>
        </p:txBody>
      </p:sp>
      <p:sp>
        <p:nvSpPr>
          <p:cNvPr id="31" name="ZoneTexte 5"/>
          <p:cNvSpPr txBox="1"/>
          <p:nvPr/>
        </p:nvSpPr>
        <p:spPr>
          <a:xfrm>
            <a:off x="66569" y="41349581"/>
            <a:ext cx="305207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2400" dirty="0" smtClean="0">
                <a:latin typeface="+mj-lt"/>
              </a:rPr>
              <a:t>[1]</a:t>
            </a:r>
            <a:r>
              <a:rPr lang="fr-FR" sz="2400" dirty="0" smtClean="0"/>
              <a:t> Gravier J.</a:t>
            </a:r>
            <a:r>
              <a:rPr lang="fr-FR" sz="2400" i="1" dirty="0" smtClean="0"/>
              <a:t>, </a:t>
            </a:r>
            <a:r>
              <a:rPr lang="fr-FR" sz="2400" b="1" dirty="0" smtClean="0"/>
              <a:t>2009</a:t>
            </a:r>
            <a:r>
              <a:rPr lang="fr-FR" sz="2400" i="1" dirty="0" smtClean="0"/>
              <a:t>, ‘Impact de l’usinage en superfinition sur la zone affectée par le procédé’, </a:t>
            </a:r>
            <a:r>
              <a:rPr lang="fr-FR" sz="2400" dirty="0" smtClean="0"/>
              <a:t>Thèse de doctorat mention Sciences, spécialité physique chimie, ICB, p.49 (1), p.53 (3), p. 71 (2)</a:t>
            </a:r>
            <a:endParaRPr lang="fr-FR" sz="2400" dirty="0" smtClean="0">
              <a:latin typeface="+mj-lt"/>
            </a:endParaRPr>
          </a:p>
          <a:p>
            <a:pPr>
              <a:defRPr/>
            </a:pPr>
            <a:r>
              <a:rPr lang="fr-FR" sz="2400" dirty="0" smtClean="0">
                <a:latin typeface="+mj-lt"/>
              </a:rPr>
              <a:t>[2]</a:t>
            </a:r>
            <a:r>
              <a:rPr lang="fr-FR" sz="2400" dirty="0" smtClean="0"/>
              <a:t> Germain D., </a:t>
            </a:r>
            <a:r>
              <a:rPr lang="fr-FR" sz="2400" b="1" dirty="0" smtClean="0"/>
              <a:t>2011</a:t>
            </a:r>
            <a:r>
              <a:rPr lang="fr-FR" sz="2400" dirty="0" smtClean="0"/>
              <a:t>, ‘</a:t>
            </a:r>
            <a:r>
              <a:rPr lang="fr-FR" sz="2400" i="1" dirty="0" smtClean="0"/>
              <a:t>Développement d’un modèle d’efforts de coupe intégrant le contact en dépouille : Application au tournage de superfinition du cuivre Cu-c2</a:t>
            </a:r>
            <a:r>
              <a:rPr lang="fr-FR" sz="2400" dirty="0" smtClean="0"/>
              <a:t>’, Thèse de doctorat en Mécanique, ENSAM, </a:t>
            </a:r>
            <a:r>
              <a:rPr lang="fr-FR" sz="2400" dirty="0" smtClean="0">
                <a:latin typeface="+mj-lt"/>
              </a:rPr>
              <a:t>p56</a:t>
            </a:r>
          </a:p>
          <a:p>
            <a:r>
              <a:rPr lang="fr-FR" sz="2400" dirty="0" smtClean="0">
                <a:latin typeface="+mj-lt"/>
              </a:rPr>
              <a:t>[3]</a:t>
            </a:r>
            <a:r>
              <a:rPr lang="en-US" sz="2400" dirty="0" smtClean="0"/>
              <a:t> Waldorf, D.J., </a:t>
            </a:r>
            <a:r>
              <a:rPr lang="en-US" sz="2400" dirty="0" err="1" smtClean="0"/>
              <a:t>DeVor</a:t>
            </a:r>
            <a:r>
              <a:rPr lang="en-US" sz="2400" dirty="0" smtClean="0"/>
              <a:t>, R.E., </a:t>
            </a:r>
            <a:r>
              <a:rPr lang="en-US" sz="2400" dirty="0" err="1" smtClean="0"/>
              <a:t>Kapoor</a:t>
            </a:r>
            <a:r>
              <a:rPr lang="en-US" sz="2400" dirty="0" smtClean="0"/>
              <a:t>, S.G., </a:t>
            </a:r>
            <a:r>
              <a:rPr lang="en-US" sz="2400" b="1" dirty="0" smtClean="0"/>
              <a:t>1999</a:t>
            </a:r>
            <a:r>
              <a:rPr lang="en-US" sz="2400" dirty="0" smtClean="0"/>
              <a:t>. ‘</a:t>
            </a:r>
            <a:r>
              <a:rPr lang="en-US" sz="2400" i="1" dirty="0" smtClean="0"/>
              <a:t>An evaluation of </a:t>
            </a:r>
            <a:r>
              <a:rPr lang="en-US" sz="2400" i="1" dirty="0" err="1" smtClean="0"/>
              <a:t>ploughing</a:t>
            </a:r>
            <a:r>
              <a:rPr lang="en-US" sz="2400" i="1" dirty="0" smtClean="0"/>
              <a:t> models for orthogonal machining</a:t>
            </a:r>
            <a:r>
              <a:rPr lang="en-US" sz="2400" dirty="0" smtClean="0"/>
              <a:t>’. Journal of Manufacturing Science and Engineering 121, p.550–558.</a:t>
            </a:r>
            <a:endParaRPr lang="fr-FR" sz="2400" dirty="0" smtClean="0">
              <a:latin typeface="+mj-lt"/>
            </a:endParaRPr>
          </a:p>
        </p:txBody>
      </p:sp>
      <p:grpSp>
        <p:nvGrpSpPr>
          <p:cNvPr id="276" name="Group 275"/>
          <p:cNvGrpSpPr/>
          <p:nvPr/>
        </p:nvGrpSpPr>
        <p:grpSpPr>
          <a:xfrm>
            <a:off x="306338" y="28548062"/>
            <a:ext cx="15476591" cy="11358642"/>
            <a:chOff x="306338" y="28515131"/>
            <a:chExt cx="15476591" cy="11358642"/>
          </a:xfrm>
        </p:grpSpPr>
        <p:sp>
          <p:nvSpPr>
            <p:cNvPr id="56" name="AutoShape 30"/>
            <p:cNvSpPr>
              <a:spLocks noChangeArrowheads="1"/>
            </p:cNvSpPr>
            <p:nvPr/>
          </p:nvSpPr>
          <p:spPr bwMode="auto">
            <a:xfrm>
              <a:off x="306338" y="29119566"/>
              <a:ext cx="15476591" cy="10754207"/>
            </a:xfrm>
            <a:prstGeom prst="rect">
              <a:avLst/>
            </a:prstGeom>
            <a:solidFill>
              <a:schemeClr val="bg1"/>
            </a:solidFill>
            <a:ln w="127000">
              <a:solidFill>
                <a:srgbClr val="8E246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fr-FR" sz="4000" dirty="0"/>
            </a:p>
          </p:txBody>
        </p:sp>
        <p:sp>
          <p:nvSpPr>
            <p:cNvPr id="54" name="AutoShape 32"/>
            <p:cNvSpPr>
              <a:spLocks noChangeArrowheads="1"/>
            </p:cNvSpPr>
            <p:nvPr/>
          </p:nvSpPr>
          <p:spPr bwMode="auto">
            <a:xfrm>
              <a:off x="306338" y="28515131"/>
              <a:ext cx="15476591" cy="1074801"/>
            </a:xfrm>
            <a:prstGeom prst="rect">
              <a:avLst/>
            </a:prstGeom>
            <a:solidFill>
              <a:srgbClr val="8E2462"/>
            </a:solidFill>
            <a:ln w="127000">
              <a:solidFill>
                <a:srgbClr val="8E2462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fr-FR" sz="4800" b="1" dirty="0" smtClean="0">
                  <a:solidFill>
                    <a:schemeClr val="bg1"/>
                  </a:solidFill>
                </a:rPr>
                <a:t>Moyens expérimentaux</a:t>
              </a:r>
              <a:endParaRPr lang="fr-FR" sz="4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11853839" y="32388770"/>
            <a:ext cx="3168352" cy="3231654"/>
          </a:xfrm>
          <a:prstGeom prst="rect">
            <a:avLst/>
          </a:prstGeom>
          <a:noFill/>
          <a:ln w="101600">
            <a:noFill/>
          </a:ln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Logiciels :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err="1" smtClean="0"/>
              <a:t>MatLab</a:t>
            </a:r>
            <a:endParaRPr lang="fr-FR" sz="2800" dirty="0" smtClean="0"/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Microsoft Excel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Logiciel d’acquisition </a:t>
            </a:r>
            <a:r>
              <a:rPr lang="fr-FR" sz="2800" dirty="0" err="1" smtClean="0"/>
              <a:t>DasyLab</a:t>
            </a:r>
            <a:endParaRPr lang="fr-FR" sz="2800" dirty="0" smtClean="0"/>
          </a:p>
          <a:p>
            <a:endParaRPr lang="fr-FR" sz="3200" dirty="0" smtClean="0"/>
          </a:p>
        </p:txBody>
      </p:sp>
      <p:sp>
        <p:nvSpPr>
          <p:cNvPr id="51" name="Rectangle 50"/>
          <p:cNvSpPr/>
          <p:nvPr/>
        </p:nvSpPr>
        <p:spPr bwMode="auto">
          <a:xfrm>
            <a:off x="-1" y="40172094"/>
            <a:ext cx="30279975" cy="377552"/>
          </a:xfrm>
          <a:prstGeom prst="rect">
            <a:avLst/>
          </a:prstGeom>
          <a:solidFill>
            <a:srgbClr val="999999"/>
          </a:solidFill>
          <a:ln w="9525" cap="flat" cmpd="sng" algn="ctr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9862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7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9" name="Groupe 48"/>
          <p:cNvGrpSpPr/>
          <p:nvPr/>
        </p:nvGrpSpPr>
        <p:grpSpPr>
          <a:xfrm>
            <a:off x="738387" y="7794750"/>
            <a:ext cx="28875208" cy="2036562"/>
            <a:chOff x="-1194262" y="8082782"/>
            <a:chExt cx="31531003" cy="2612626"/>
          </a:xfrm>
        </p:grpSpPr>
        <p:pic>
          <p:nvPicPr>
            <p:cNvPr id="43" name="Picture 2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E0E0E0"/>
                </a:clrFrom>
                <a:clrTo>
                  <a:srgbClr val="E0E0E0">
                    <a:alpha val="0"/>
                  </a:srgbClr>
                </a:clrTo>
              </a:clrChange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31168" y="8396190"/>
              <a:ext cx="4578372" cy="1990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77" descr="CEA.JPG"/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843843" y="8082782"/>
              <a:ext cx="2592834" cy="2612626"/>
            </a:xfrm>
            <a:prstGeom prst="rect">
              <a:avLst/>
            </a:prstGeom>
          </p:spPr>
        </p:pic>
        <p:pic>
          <p:nvPicPr>
            <p:cNvPr id="45" name="Picture 79" descr="logo_icb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194262" y="8569913"/>
              <a:ext cx="8202278" cy="2105158"/>
            </a:xfrm>
            <a:prstGeom prst="rect">
              <a:avLst/>
            </a:prstGeom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4193970" y="8298806"/>
              <a:ext cx="6142771" cy="2068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926926" y="8730854"/>
              <a:ext cx="4248473" cy="1462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11" name="Group 110"/>
          <p:cNvGrpSpPr/>
          <p:nvPr/>
        </p:nvGrpSpPr>
        <p:grpSpPr>
          <a:xfrm>
            <a:off x="7067493" y="35406110"/>
            <a:ext cx="8590706" cy="4071966"/>
            <a:chOff x="40443" y="32253818"/>
            <a:chExt cx="8590706" cy="4071966"/>
          </a:xfrm>
        </p:grpSpPr>
        <p:sp>
          <p:nvSpPr>
            <p:cNvPr id="52" name="TextBox 2062"/>
            <p:cNvSpPr txBox="1"/>
            <p:nvPr/>
          </p:nvSpPr>
          <p:spPr>
            <a:xfrm>
              <a:off x="326195" y="32253818"/>
              <a:ext cx="8304954" cy="1077218"/>
            </a:xfrm>
            <a:prstGeom prst="rect">
              <a:avLst/>
            </a:prstGeom>
            <a:noFill/>
            <a:ln w="101600" cmpd="sng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3200" b="1" dirty="0" smtClean="0"/>
                <a:t>Test de réactivité chimique des surfaces usinées :</a:t>
              </a: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40443" y="33182512"/>
              <a:ext cx="8024134" cy="3143272"/>
              <a:chOff x="212195" y="33182512"/>
              <a:chExt cx="8024134" cy="3143272"/>
            </a:xfrm>
          </p:grpSpPr>
          <p:pic>
            <p:nvPicPr>
              <p:cNvPr id="1029" name="Picture 5" descr="1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 r="44720"/>
              <a:stretch>
                <a:fillRect/>
              </a:stretch>
            </p:blipFill>
            <p:spPr bwMode="auto">
              <a:xfrm>
                <a:off x="3222971" y="33182512"/>
                <a:ext cx="5013358" cy="31432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3" name="Rectangle 52"/>
              <p:cNvSpPr/>
              <p:nvPr/>
            </p:nvSpPr>
            <p:spPr>
              <a:xfrm>
                <a:off x="212195" y="33253950"/>
                <a:ext cx="2928958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endParaRPr lang="fr-FR" sz="2400" dirty="0" smtClean="0"/>
              </a:p>
              <a:p>
                <a:pPr algn="r"/>
                <a:r>
                  <a:rPr lang="fr-FR" sz="2400" dirty="0" smtClean="0"/>
                  <a:t>a) </a:t>
                </a:r>
                <a:r>
                  <a:rPr lang="fr-FR" sz="2400" dirty="0" err="1" smtClean="0"/>
                  <a:t>Microcapillaire</a:t>
                </a:r>
                <a:r>
                  <a:rPr lang="fr-FR" sz="2400" dirty="0" smtClean="0"/>
                  <a:t>  b) </a:t>
                </a:r>
                <a:r>
                  <a:rPr lang="fr-FR" sz="2400" dirty="0" err="1" smtClean="0"/>
                  <a:t>Microcapillaire</a:t>
                </a:r>
                <a:r>
                  <a:rPr lang="fr-FR" sz="2400" dirty="0" smtClean="0"/>
                  <a:t> recouvert d’un dépôt de silicone  </a:t>
                </a:r>
              </a:p>
              <a:p>
                <a:pPr algn="r"/>
                <a:r>
                  <a:rPr lang="fr-FR" sz="2400" dirty="0" smtClean="0"/>
                  <a:t>c) Microcellule fixée sur le microscope optique  [1 (3)]</a:t>
                </a:r>
                <a:endParaRPr lang="fr-FR" sz="2400" dirty="0"/>
              </a:p>
            </p:txBody>
          </p:sp>
        </p:grpSp>
      </p:grpSp>
      <p:sp>
        <p:nvSpPr>
          <p:cNvPr id="71" name="TextBox 70"/>
          <p:cNvSpPr txBox="1"/>
          <p:nvPr/>
        </p:nvSpPr>
        <p:spPr>
          <a:xfrm>
            <a:off x="7281807" y="29833946"/>
            <a:ext cx="8715436" cy="2190343"/>
          </a:xfrm>
          <a:prstGeom prst="rect">
            <a:avLst/>
          </a:prstGeom>
          <a:noFill/>
          <a:ln w="101600" cmpd="sng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fr-FR" sz="3200" b="1" dirty="0" smtClean="0"/>
              <a:t>Chaine d’acquisition des efforts de coupe :</a:t>
            </a:r>
            <a:endParaRPr lang="fr-FR" sz="2800" dirty="0" smtClean="0"/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Platines dynamométriques </a:t>
            </a:r>
            <a:r>
              <a:rPr lang="fr-FR" sz="2800" dirty="0" err="1" smtClean="0"/>
              <a:t>Kistler</a:t>
            </a:r>
            <a:r>
              <a:rPr lang="fr-FR" sz="2800" dirty="0" smtClean="0"/>
              <a:t> 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Amplificateur de charge Kistler</a:t>
            </a:r>
            <a:endParaRPr lang="fr-FR" sz="2800" b="1" dirty="0"/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Carte d’acquisition National Instruments</a:t>
            </a:r>
          </a:p>
          <a:p>
            <a:endParaRPr lang="fr-FR" sz="1200" dirty="0"/>
          </a:p>
        </p:txBody>
      </p:sp>
      <p:sp>
        <p:nvSpPr>
          <p:cNvPr id="2063" name="TextBox 2062"/>
          <p:cNvSpPr txBox="1"/>
          <p:nvPr/>
        </p:nvSpPr>
        <p:spPr>
          <a:xfrm>
            <a:off x="638073" y="35477548"/>
            <a:ext cx="7215238" cy="2005677"/>
          </a:xfrm>
          <a:prstGeom prst="rect">
            <a:avLst/>
          </a:prstGeom>
          <a:noFill/>
          <a:ln w="101600" cmpd="sng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fr-FR" sz="3200" b="1" dirty="0" smtClean="0"/>
              <a:t>Machine et outils :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Tour à commande numérique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Plaquettes de coupe  ARNO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Porte-outils SANDVIK</a:t>
            </a:r>
            <a:endParaRPr lang="fr-FR" sz="2400" dirty="0" smtClean="0"/>
          </a:p>
        </p:txBody>
      </p:sp>
      <p:grpSp>
        <p:nvGrpSpPr>
          <p:cNvPr id="66" name="Groupe 65"/>
          <p:cNvGrpSpPr/>
          <p:nvPr/>
        </p:nvGrpSpPr>
        <p:grpSpPr>
          <a:xfrm>
            <a:off x="7712145" y="31834210"/>
            <a:ext cx="3600400" cy="3786214"/>
            <a:chOff x="17588259" y="35301806"/>
            <a:chExt cx="3600400" cy="3786214"/>
          </a:xfrm>
        </p:grpSpPr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11" cstate="print"/>
            <a:srcRect l="14825" t="5000"/>
            <a:stretch>
              <a:fillRect/>
            </a:stretch>
          </p:blipFill>
          <p:spPr bwMode="auto">
            <a:xfrm>
              <a:off x="17732275" y="35301806"/>
              <a:ext cx="2896021" cy="2736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5" name="ZoneTexte 64"/>
            <p:cNvSpPr txBox="1"/>
            <p:nvPr/>
          </p:nvSpPr>
          <p:spPr>
            <a:xfrm>
              <a:off x="17588259" y="37887691"/>
              <a:ext cx="36004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 smtClean="0"/>
                <a:t>Platine de tournage </a:t>
              </a:r>
              <a:r>
                <a:rPr lang="fr-FR" sz="2400" dirty="0" err="1" smtClean="0"/>
                <a:t>Kistler</a:t>
              </a:r>
              <a:r>
                <a:rPr lang="fr-FR" sz="2400" dirty="0" smtClean="0"/>
                <a:t>® 9121</a:t>
              </a:r>
            </a:p>
            <a:p>
              <a:pPr algn="ctr"/>
              <a:endParaRPr lang="fr-FR" sz="2400" dirty="0"/>
            </a:p>
          </p:txBody>
        </p:sp>
      </p:grpSp>
      <p:cxnSp>
        <p:nvCxnSpPr>
          <p:cNvPr id="234" name="Straight Arrow Connector 233"/>
          <p:cNvCxnSpPr/>
          <p:nvPr/>
        </p:nvCxnSpPr>
        <p:spPr bwMode="auto">
          <a:xfrm rot="16200000" flipV="1">
            <a:off x="14261808" y="19240198"/>
            <a:ext cx="235238" cy="2352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8" name="TextBox 237"/>
          <p:cNvSpPr txBox="1"/>
          <p:nvPr/>
        </p:nvSpPr>
        <p:spPr>
          <a:xfrm>
            <a:off x="5995923" y="2111851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bg1"/>
                </a:solidFill>
              </a:rPr>
              <a:t>pièce</a:t>
            </a:r>
            <a:endParaRPr lang="fr-FR" sz="1800" b="1" dirty="0">
              <a:solidFill>
                <a:schemeClr val="bg1"/>
              </a:solidFill>
            </a:endParaRPr>
          </a:p>
        </p:txBody>
      </p:sp>
      <p:cxnSp>
        <p:nvCxnSpPr>
          <p:cNvPr id="240" name="Straight Arrow Connector 239"/>
          <p:cNvCxnSpPr/>
          <p:nvPr/>
        </p:nvCxnSpPr>
        <p:spPr bwMode="auto">
          <a:xfrm rot="5400000">
            <a:off x="3852783" y="27047864"/>
            <a:ext cx="357190" cy="7143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arrow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TextBox 268"/>
          <p:cNvSpPr txBox="1"/>
          <p:nvPr/>
        </p:nvSpPr>
        <p:spPr>
          <a:xfrm>
            <a:off x="4067097" y="25761980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bg1"/>
                </a:solidFill>
              </a:rPr>
              <a:t>pièce</a:t>
            </a:r>
            <a:endParaRPr lang="fr-FR" sz="1800" b="1" dirty="0">
              <a:solidFill>
                <a:schemeClr val="bg1"/>
              </a:solidFill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566635" y="20606302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bg1"/>
                </a:solidFill>
              </a:rPr>
              <a:t>[2]</a:t>
            </a:r>
            <a:endParaRPr lang="fr-FR" sz="1800" b="1" dirty="0">
              <a:solidFill>
                <a:schemeClr val="bg1"/>
              </a:solidFill>
            </a:endParaRPr>
          </a:p>
        </p:txBody>
      </p:sp>
      <p:sp>
        <p:nvSpPr>
          <p:cNvPr id="193" name="Down Arrow 192"/>
          <p:cNvSpPr/>
          <p:nvPr/>
        </p:nvSpPr>
        <p:spPr bwMode="auto">
          <a:xfrm>
            <a:off x="4424287" y="19048784"/>
            <a:ext cx="285752" cy="1857388"/>
          </a:xfrm>
          <a:prstGeom prst="downArrow">
            <a:avLst>
              <a:gd name="adj1" fmla="val 50000"/>
              <a:gd name="adj2" fmla="val 86113"/>
            </a:avLst>
          </a:prstGeom>
          <a:solidFill>
            <a:srgbClr val="F29400"/>
          </a:solidFill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9862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7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2" name="Down Arrow 201"/>
          <p:cNvSpPr/>
          <p:nvPr/>
        </p:nvSpPr>
        <p:spPr bwMode="auto">
          <a:xfrm>
            <a:off x="6710303" y="19048784"/>
            <a:ext cx="285752" cy="1857388"/>
          </a:xfrm>
          <a:prstGeom prst="downArrow">
            <a:avLst>
              <a:gd name="adj1" fmla="val 50000"/>
              <a:gd name="adj2" fmla="val 86113"/>
            </a:avLst>
          </a:prstGeom>
          <a:solidFill>
            <a:srgbClr val="8E246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9862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7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26070001" y="25119038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[1 (3)]</a:t>
            </a:r>
            <a:endParaRPr lang="fr-FR" sz="2000" dirty="0"/>
          </a:p>
        </p:txBody>
      </p:sp>
      <p:grpSp>
        <p:nvGrpSpPr>
          <p:cNvPr id="205" name="Group 204"/>
          <p:cNvGrpSpPr/>
          <p:nvPr/>
        </p:nvGrpSpPr>
        <p:grpSpPr>
          <a:xfrm>
            <a:off x="25141307" y="17260858"/>
            <a:ext cx="4500594" cy="10858576"/>
            <a:chOff x="25141307" y="17760924"/>
            <a:chExt cx="4500594" cy="10858576"/>
          </a:xfrm>
        </p:grpSpPr>
        <p:sp>
          <p:nvSpPr>
            <p:cNvPr id="325" name="Round Diagonal Corner Rectangle 324"/>
            <p:cNvSpPr/>
            <p:nvPr/>
          </p:nvSpPr>
          <p:spPr bwMode="auto">
            <a:xfrm>
              <a:off x="25141307" y="17760924"/>
              <a:ext cx="4500594" cy="10858576"/>
            </a:xfrm>
            <a:prstGeom prst="round2DiagRect">
              <a:avLst/>
            </a:prstGeom>
            <a:solidFill>
              <a:schemeClr val="bg1"/>
            </a:solidFill>
            <a:ln w="76200" cap="flat" cmpd="sng" algn="ctr">
              <a:solidFill>
                <a:srgbClr val="F294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39862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7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25141307" y="27296061"/>
              <a:ext cx="3429024" cy="1323439"/>
            </a:xfrm>
            <a:prstGeom prst="rect">
              <a:avLst/>
            </a:prstGeom>
            <a:solidFill>
              <a:srgbClr val="F29400"/>
            </a:solidFill>
            <a:ln>
              <a:solidFill>
                <a:srgbClr val="F29400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Résistance </a:t>
              </a:r>
            </a:p>
            <a:p>
              <a:pPr algn="ctr"/>
              <a:r>
                <a:rPr lang="fr-FR" sz="40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à la Corrosion</a:t>
              </a:r>
              <a:endParaRPr lang="fr-F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25712811" y="17975238"/>
              <a:ext cx="2928958" cy="95410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294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2800" b="1" dirty="0" smtClean="0"/>
                <a:t>Solution aérée de 1M NaClO</a:t>
              </a:r>
              <a:r>
                <a:rPr lang="fr-FR" sz="1800" b="1" dirty="0" smtClean="0"/>
                <a:t>4</a:t>
              </a:r>
              <a:endParaRPr lang="fr-FR" sz="2800" b="1" dirty="0"/>
            </a:p>
          </p:txBody>
        </p:sp>
        <p:sp>
          <p:nvSpPr>
            <p:cNvPr id="291" name="Down Arrow 290"/>
            <p:cNvSpPr/>
            <p:nvPr/>
          </p:nvSpPr>
          <p:spPr bwMode="auto">
            <a:xfrm>
              <a:off x="26070001" y="18975370"/>
              <a:ext cx="357190" cy="1285884"/>
            </a:xfrm>
            <a:prstGeom prst="downArrow">
              <a:avLst>
                <a:gd name="adj1" fmla="val 50000"/>
                <a:gd name="adj2" fmla="val 86113"/>
              </a:avLst>
            </a:prstGeom>
            <a:solidFill>
              <a:srgbClr val="F29400"/>
            </a:solidFill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39862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7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27998827" y="23190212"/>
              <a:ext cx="157163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 smtClean="0">
                  <a:solidFill>
                    <a:schemeClr val="dk1"/>
                  </a:solidFill>
                  <a:latin typeface="+mn-lt"/>
                </a:rPr>
                <a:t>Mesures par rapport à l’ECS</a:t>
              </a:r>
            </a:p>
          </p:txBody>
        </p:sp>
        <p:cxnSp>
          <p:nvCxnSpPr>
            <p:cNvPr id="294" name="Straight Arrow Connector 293"/>
            <p:cNvCxnSpPr/>
            <p:nvPr/>
          </p:nvCxnSpPr>
          <p:spPr bwMode="auto">
            <a:xfrm rot="5400000">
              <a:off x="26820497" y="24082790"/>
              <a:ext cx="2357454" cy="794"/>
            </a:xfrm>
            <a:prstGeom prst="straightConnector1">
              <a:avLst/>
            </a:prstGeom>
            <a:ln w="76200">
              <a:headEnd type="none" w="med" len="med"/>
              <a:tailEnd type="arrow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6" name="TextBox 295"/>
            <p:cNvSpPr txBox="1"/>
            <p:nvPr/>
          </p:nvSpPr>
          <p:spPr>
            <a:xfrm>
              <a:off x="26355753" y="18989487"/>
              <a:ext cx="278608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 smtClean="0">
                  <a:solidFill>
                    <a:schemeClr val="dk1"/>
                  </a:solidFill>
                  <a:latin typeface="+mn-lt"/>
                </a:rPr>
                <a:t>Technique de la microcellule électrochimique</a:t>
              </a:r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25498497" y="20251746"/>
              <a:ext cx="3786214" cy="2736000"/>
            </a:xfrm>
            <a:prstGeom prst="roundRect">
              <a:avLst/>
            </a:prstGeom>
            <a:ln w="57150">
              <a:solidFill>
                <a:srgbClr val="999999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fr-FR" sz="1600" b="1" dirty="0" smtClean="0">
                <a:solidFill>
                  <a:schemeClr val="tx1"/>
                </a:solidFill>
              </a:endParaRPr>
            </a:p>
            <a:p>
              <a:pPr algn="ctr"/>
              <a:endParaRPr lang="fr-FR" sz="24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fr-FR" sz="4400" b="1" dirty="0" smtClean="0">
                  <a:solidFill>
                    <a:schemeClr val="tx1"/>
                  </a:solidFill>
                </a:rPr>
                <a:t>Réactivité </a:t>
              </a:r>
              <a:r>
                <a:rPr lang="fr-FR" sz="3200" b="1" dirty="0" smtClean="0">
                  <a:solidFill>
                    <a:schemeClr val="tx1"/>
                  </a:solidFill>
                </a:rPr>
                <a:t>électrochimique</a:t>
              </a:r>
            </a:p>
            <a:p>
              <a:pPr algn="ctr"/>
              <a:endParaRPr lang="fr-FR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99" name="Straight Arrow Connector 298"/>
            <p:cNvCxnSpPr/>
            <p:nvPr/>
          </p:nvCxnSpPr>
          <p:spPr bwMode="auto">
            <a:xfrm rot="5400000">
              <a:off x="26320828" y="23225931"/>
              <a:ext cx="499272" cy="794"/>
            </a:xfrm>
            <a:prstGeom prst="straightConnector1">
              <a:avLst/>
            </a:prstGeom>
            <a:ln w="76200">
              <a:headEnd type="none" w="med" len="med"/>
              <a:tailEnd type="arrow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00" name="Picture 299" descr="Capture.JPG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165137" y="25119038"/>
              <a:ext cx="2762252" cy="2082313"/>
            </a:xfrm>
            <a:prstGeom prst="rect">
              <a:avLst/>
            </a:prstGeom>
          </p:spPr>
        </p:pic>
        <p:sp>
          <p:nvSpPr>
            <p:cNvPr id="289" name="TextBox 288"/>
            <p:cNvSpPr txBox="1"/>
            <p:nvPr/>
          </p:nvSpPr>
          <p:spPr>
            <a:xfrm>
              <a:off x="27498761" y="25333352"/>
              <a:ext cx="2000264" cy="1055608"/>
            </a:xfrm>
            <a:prstGeom prst="roundRect">
              <a:avLst/>
            </a:prstGeom>
            <a:gradFill>
              <a:gsLst>
                <a:gs pos="0">
                  <a:srgbClr val="FFCC66"/>
                </a:gs>
                <a:gs pos="35000">
                  <a:srgbClr val="FFCC66"/>
                </a:gs>
                <a:gs pos="100000">
                  <a:schemeClr val="bg1"/>
                </a:gs>
              </a:gsLst>
            </a:gradFill>
            <a:ln>
              <a:solidFill>
                <a:srgbClr val="F294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smtClean="0">
                  <a:solidFill>
                    <a:schemeClr val="tx1"/>
                  </a:solidFill>
                </a:rPr>
                <a:t>Potentiel libre</a:t>
              </a:r>
              <a:endParaRPr lang="fr-FR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25427059" y="23475964"/>
              <a:ext cx="2357454" cy="1532334"/>
            </a:xfrm>
            <a:prstGeom prst="roundRect">
              <a:avLst/>
            </a:prstGeom>
            <a:gradFill>
              <a:gsLst>
                <a:gs pos="0">
                  <a:srgbClr val="FFCC66"/>
                </a:gs>
                <a:gs pos="35000">
                  <a:srgbClr val="FFCC66"/>
                </a:gs>
                <a:gs pos="100000">
                  <a:schemeClr val="bg1"/>
                </a:gs>
              </a:gsLst>
            </a:gradFill>
            <a:ln>
              <a:solidFill>
                <a:srgbClr val="F294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smtClean="0">
                  <a:solidFill>
                    <a:schemeClr val="tx1"/>
                  </a:solidFill>
                </a:rPr>
                <a:t>Courbes locales de polarisation</a:t>
              </a:r>
              <a:endParaRPr lang="fr-FR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08" name="Rectangle 207"/>
          <p:cNvSpPr/>
          <p:nvPr/>
        </p:nvSpPr>
        <p:spPr>
          <a:xfrm>
            <a:off x="12853971" y="26190608"/>
            <a:ext cx="25003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dirty="0" smtClean="0"/>
              <a:t>Figure X. </a:t>
            </a:r>
            <a:r>
              <a:rPr lang="fr-FR" sz="1400" dirty="0" smtClean="0"/>
              <a:t>Opération de déroulage de disque [2 (2)]</a:t>
            </a:r>
            <a:endParaRPr lang="fr-FR" sz="1400" i="1" dirty="0" smtClean="0"/>
          </a:p>
        </p:txBody>
      </p:sp>
      <p:sp>
        <p:nvSpPr>
          <p:cNvPr id="209" name="Rectangle 208"/>
          <p:cNvSpPr/>
          <p:nvPr/>
        </p:nvSpPr>
        <p:spPr>
          <a:xfrm>
            <a:off x="923825" y="26119170"/>
            <a:ext cx="21431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dirty="0" smtClean="0"/>
              <a:t>Figure X. </a:t>
            </a:r>
            <a:r>
              <a:rPr lang="fr-FR" sz="1400" dirty="0" smtClean="0"/>
              <a:t>Opération de chariotage</a:t>
            </a:r>
            <a:endParaRPr lang="fr-FR" sz="1400" i="1" dirty="0" smtClean="0"/>
          </a:p>
        </p:txBody>
      </p:sp>
      <p:sp>
        <p:nvSpPr>
          <p:cNvPr id="220" name="Right Arrow 219"/>
          <p:cNvSpPr/>
          <p:nvPr/>
        </p:nvSpPr>
        <p:spPr bwMode="auto">
          <a:xfrm>
            <a:off x="2781213" y="21404262"/>
            <a:ext cx="1285884" cy="490542"/>
          </a:xfrm>
          <a:prstGeom prst="rightArrow">
            <a:avLst/>
          </a:prstGeom>
          <a:solidFill>
            <a:srgbClr val="99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9862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7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21426531" y="15247323"/>
            <a:ext cx="83582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dirty="0" smtClean="0">
                <a:latin typeface="Arial" pitchFamily="34" charset="0"/>
              </a:rPr>
              <a:t>   Relation intégrité de surface - corrosion</a:t>
            </a:r>
            <a:endParaRPr lang="fr-FR" sz="3200" dirty="0"/>
          </a:p>
        </p:txBody>
      </p:sp>
      <p:grpSp>
        <p:nvGrpSpPr>
          <p:cNvPr id="255" name="Group 254"/>
          <p:cNvGrpSpPr/>
          <p:nvPr/>
        </p:nvGrpSpPr>
        <p:grpSpPr>
          <a:xfrm>
            <a:off x="566635" y="17260858"/>
            <a:ext cx="11930146" cy="10922745"/>
            <a:chOff x="566635" y="17260858"/>
            <a:chExt cx="11930146" cy="10922745"/>
          </a:xfrm>
        </p:grpSpPr>
        <p:grpSp>
          <p:nvGrpSpPr>
            <p:cNvPr id="225" name="Group 224"/>
            <p:cNvGrpSpPr/>
            <p:nvPr/>
          </p:nvGrpSpPr>
          <p:grpSpPr>
            <a:xfrm>
              <a:off x="566635" y="17260858"/>
              <a:ext cx="11930146" cy="10922745"/>
              <a:chOff x="566635" y="17260858"/>
              <a:chExt cx="11930146" cy="10922745"/>
            </a:xfrm>
          </p:grpSpPr>
          <p:grpSp>
            <p:nvGrpSpPr>
              <p:cNvPr id="223" name="Group 222"/>
              <p:cNvGrpSpPr/>
              <p:nvPr/>
            </p:nvGrpSpPr>
            <p:grpSpPr>
              <a:xfrm>
                <a:off x="566635" y="17260858"/>
                <a:ext cx="11930146" cy="10922745"/>
                <a:chOff x="566635" y="17260858"/>
                <a:chExt cx="11930146" cy="10922745"/>
              </a:xfrm>
            </p:grpSpPr>
            <p:grpSp>
              <p:nvGrpSpPr>
                <p:cNvPr id="198" name="Group 197"/>
                <p:cNvGrpSpPr/>
                <p:nvPr/>
              </p:nvGrpSpPr>
              <p:grpSpPr>
                <a:xfrm>
                  <a:off x="566635" y="17260858"/>
                  <a:ext cx="11930146" cy="10922745"/>
                  <a:chOff x="566635" y="17760924"/>
                  <a:chExt cx="11930146" cy="10922745"/>
                </a:xfrm>
              </p:grpSpPr>
              <p:sp>
                <p:nvSpPr>
                  <p:cNvPr id="305" name="Round Diagonal Corner Rectangle 304"/>
                  <p:cNvSpPr/>
                  <p:nvPr/>
                </p:nvSpPr>
                <p:spPr bwMode="auto">
                  <a:xfrm>
                    <a:off x="566635" y="17760924"/>
                    <a:ext cx="11930146" cy="10858576"/>
                  </a:xfrm>
                  <a:prstGeom prst="round2DiagRect">
                    <a:avLst/>
                  </a:prstGeom>
                  <a:solidFill>
                    <a:schemeClr val="bg1"/>
                  </a:solidFill>
                  <a:ln w="76200" cap="flat" cmpd="sng" algn="ctr">
                    <a:solidFill>
                      <a:srgbClr val="304F7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398621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sz="7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grpSp>
                <p:nvGrpSpPr>
                  <p:cNvPr id="313" name="Group 312"/>
                  <p:cNvGrpSpPr/>
                  <p:nvPr/>
                </p:nvGrpSpPr>
                <p:grpSpPr>
                  <a:xfrm>
                    <a:off x="780949" y="22761584"/>
                    <a:ext cx="6429420" cy="3786214"/>
                    <a:chOff x="923825" y="23261650"/>
                    <a:chExt cx="6429420" cy="3786214"/>
                  </a:xfrm>
                </p:grpSpPr>
                <p:pic>
                  <p:nvPicPr>
                    <p:cNvPr id="178" name="Picture 177" descr="Capture.JPG"/>
                    <p:cNvPicPr>
                      <a:picLocks noChangeAspect="1"/>
                    </p:cNvPicPr>
                    <p:nvPr/>
                  </p:nvPicPr>
                  <p:blipFill>
                    <a:blip r:embed="rId13" cstate="print"/>
                    <a:srcRect l="10503"/>
                    <a:stretch>
                      <a:fillRect/>
                    </a:stretch>
                  </p:blipFill>
                  <p:spPr>
                    <a:xfrm>
                      <a:off x="923825" y="23261650"/>
                      <a:ext cx="5478790" cy="378621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12" name="Group 311"/>
                    <p:cNvGrpSpPr/>
                    <p:nvPr/>
                  </p:nvGrpSpPr>
                  <p:grpSpPr>
                    <a:xfrm>
                      <a:off x="5638733" y="24547534"/>
                      <a:ext cx="1714512" cy="857256"/>
                      <a:chOff x="5638733" y="23761716"/>
                      <a:chExt cx="1714512" cy="857256"/>
                    </a:xfrm>
                  </p:grpSpPr>
                  <p:cxnSp>
                    <p:nvCxnSpPr>
                      <p:cNvPr id="216" name="Straight Arrow Connector 215"/>
                      <p:cNvCxnSpPr/>
                      <p:nvPr/>
                    </p:nvCxnSpPr>
                    <p:spPr bwMode="auto">
                      <a:xfrm rot="5400000" flipH="1" flipV="1">
                        <a:off x="6531708" y="24368145"/>
                        <a:ext cx="500066" cy="1588"/>
                      </a:xfrm>
                      <a:prstGeom prst="straightConnector1">
                        <a:avLst/>
                      </a:prstGeom>
                      <a:solidFill>
                        <a:schemeClr val="accent1"/>
                      </a:solidFill>
                      <a:ln w="952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arrow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grpSp>
                    <p:nvGrpSpPr>
                      <p:cNvPr id="311" name="Group 310"/>
                      <p:cNvGrpSpPr/>
                      <p:nvPr/>
                    </p:nvGrpSpPr>
                    <p:grpSpPr>
                      <a:xfrm>
                        <a:off x="5638733" y="23761716"/>
                        <a:ext cx="1714512" cy="756506"/>
                        <a:chOff x="5638733" y="23976824"/>
                        <a:chExt cx="1714512" cy="756506"/>
                      </a:xfrm>
                    </p:grpSpPr>
                    <p:cxnSp>
                      <p:nvCxnSpPr>
                        <p:cNvPr id="210" name="Straight Connector 209"/>
                        <p:cNvCxnSpPr/>
                        <p:nvPr/>
                      </p:nvCxnSpPr>
                      <p:spPr bwMode="auto">
                        <a:xfrm>
                          <a:off x="5781609" y="24118906"/>
                          <a:ext cx="1143008" cy="1588"/>
                        </a:xfrm>
                        <a:prstGeom prst="line">
                          <a:avLst/>
                        </a:prstGeom>
                        <a:solidFill>
                          <a:schemeClr val="accent1"/>
                        </a:solidFill>
                        <a:ln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212" name="Straight Connector 211"/>
                        <p:cNvCxnSpPr/>
                        <p:nvPr/>
                      </p:nvCxnSpPr>
                      <p:spPr bwMode="auto">
                        <a:xfrm>
                          <a:off x="5638733" y="24261782"/>
                          <a:ext cx="1285884" cy="1588"/>
                        </a:xfrm>
                        <a:prstGeom prst="line">
                          <a:avLst/>
                        </a:prstGeom>
                        <a:solidFill>
                          <a:schemeClr val="accent1"/>
                        </a:solidFill>
                        <a:ln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214" name="Straight Arrow Connector 213"/>
                        <p:cNvCxnSpPr/>
                        <p:nvPr/>
                      </p:nvCxnSpPr>
                      <p:spPr bwMode="auto">
                        <a:xfrm rot="5400000">
                          <a:off x="6710303" y="24047468"/>
                          <a:ext cx="142876" cy="1588"/>
                        </a:xfrm>
                        <a:prstGeom prst="straightConnector1">
                          <a:avLst/>
                        </a:prstGeom>
                        <a:solidFill>
                          <a:schemeClr val="accent1"/>
                        </a:solidFill>
                        <a:ln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arrow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218" name="Straight Connector 217"/>
                        <p:cNvCxnSpPr/>
                        <p:nvPr/>
                      </p:nvCxnSpPr>
                      <p:spPr bwMode="auto">
                        <a:xfrm rot="5400000" flipH="1" flipV="1">
                          <a:off x="6710303" y="24190344"/>
                          <a:ext cx="142876" cy="1588"/>
                        </a:xfrm>
                        <a:prstGeom prst="line">
                          <a:avLst/>
                        </a:prstGeom>
                        <a:solidFill>
                          <a:schemeClr val="accent1"/>
                        </a:solidFill>
                        <a:ln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sp>
                      <p:nvSpPr>
                        <p:cNvPr id="219" name="TextBox 218"/>
                        <p:cNvSpPr txBox="1"/>
                        <p:nvPr/>
                      </p:nvSpPr>
                      <p:spPr>
                        <a:xfrm>
                          <a:off x="6424551" y="24333220"/>
                          <a:ext cx="928694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fr-FR" sz="2000" b="1" dirty="0" smtClean="0"/>
                            <a:t>R</a:t>
                          </a:r>
                          <a:r>
                            <a:rPr lang="fr-FR" sz="1400" b="1" dirty="0" smtClean="0"/>
                            <a:t>t</a:t>
                          </a:r>
                          <a:endParaRPr lang="fr-FR" sz="2000" b="1" dirty="0"/>
                        </a:p>
                      </p:txBody>
                    </p:sp>
                  </p:grpSp>
                </p:grpSp>
              </p:grpSp>
              <p:pic>
                <p:nvPicPr>
                  <p:cNvPr id="309" name="Picture 308" descr="Capture.JPG"/>
                  <p:cNvPicPr>
                    <a:picLocks noChangeAspect="1"/>
                  </p:cNvPicPr>
                  <p:nvPr/>
                </p:nvPicPr>
                <p:blipFill>
                  <a:blip r:embed="rId14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tretch>
                    <a:fillRect/>
                  </a:stretch>
                </p:blipFill>
                <p:spPr>
                  <a:xfrm>
                    <a:off x="3781345" y="25482127"/>
                    <a:ext cx="3286148" cy="2351555"/>
                  </a:xfrm>
                  <a:prstGeom prst="rect">
                    <a:avLst/>
                  </a:prstGeom>
                </p:spPr>
              </p:pic>
              <p:pic>
                <p:nvPicPr>
                  <p:cNvPr id="163" name="Picture 162" descr="1.JPG"/>
                  <p:cNvPicPr>
                    <a:picLocks noChangeAspect="1"/>
                  </p:cNvPicPr>
                  <p:nvPr/>
                </p:nvPicPr>
                <p:blipFill>
                  <a:blip r:embed="rId15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tretch>
                    <a:fillRect/>
                  </a:stretch>
                </p:blipFill>
                <p:spPr>
                  <a:xfrm>
                    <a:off x="3567031" y="27698074"/>
                    <a:ext cx="8072494" cy="985595"/>
                  </a:xfrm>
                  <a:prstGeom prst="rect">
                    <a:avLst/>
                  </a:prstGeom>
                </p:spPr>
              </p:pic>
              <p:pic>
                <p:nvPicPr>
                  <p:cNvPr id="164" name="Picture 163" descr="2.JPG"/>
                  <p:cNvPicPr>
                    <a:picLocks noChangeAspect="1"/>
                  </p:cNvPicPr>
                  <p:nvPr/>
                </p:nvPicPr>
                <p:blipFill>
                  <a:blip r:embed="rId16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tretch>
                    <a:fillRect/>
                  </a:stretch>
                </p:blipFill>
                <p:spPr>
                  <a:xfrm>
                    <a:off x="6710303" y="25476228"/>
                    <a:ext cx="3779947" cy="1857388"/>
                  </a:xfrm>
                  <a:prstGeom prst="rect">
                    <a:avLst/>
                  </a:prstGeom>
                </p:spPr>
              </p:pic>
              <p:pic>
                <p:nvPicPr>
                  <p:cNvPr id="165" name="Picture 164" descr="3.JPG"/>
                  <p:cNvPicPr>
                    <a:picLocks noChangeAspect="1"/>
                  </p:cNvPicPr>
                  <p:nvPr/>
                </p:nvPicPr>
                <p:blipFill>
                  <a:blip r:embed="rId17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tretch>
                    <a:fillRect/>
                  </a:stretch>
                </p:blipFill>
                <p:spPr>
                  <a:xfrm>
                    <a:off x="7040017" y="26690674"/>
                    <a:ext cx="3956566" cy="1143008"/>
                  </a:xfrm>
                  <a:prstGeom prst="rect">
                    <a:avLst/>
                  </a:prstGeom>
                </p:spPr>
              </p:pic>
              <p:sp>
                <p:nvSpPr>
                  <p:cNvPr id="173" name="TextBox 172"/>
                  <p:cNvSpPr txBox="1"/>
                  <p:nvPr/>
                </p:nvSpPr>
                <p:spPr>
                  <a:xfrm>
                    <a:off x="7138931" y="24771141"/>
                    <a:ext cx="3786214" cy="919401"/>
                  </a:xfrm>
                  <a:prstGeom prst="roundRect">
                    <a:avLst/>
                  </a:prstGeom>
                  <a:ln w="57150"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2400" b="1" dirty="0" smtClean="0">
                        <a:solidFill>
                          <a:srgbClr val="304F7C"/>
                        </a:solidFill>
                      </a:rPr>
                      <a:t>Comparaison avec les modèles théoriques</a:t>
                    </a:r>
                    <a:endParaRPr lang="fr-FR" sz="2400" b="1" dirty="0">
                      <a:solidFill>
                        <a:srgbClr val="304F7C"/>
                      </a:solidFill>
                    </a:endParaRPr>
                  </a:p>
                </p:txBody>
              </p:sp>
              <p:sp>
                <p:nvSpPr>
                  <p:cNvPr id="181" name="Rectangle 180"/>
                  <p:cNvSpPr/>
                  <p:nvPr/>
                </p:nvSpPr>
                <p:spPr>
                  <a:xfrm>
                    <a:off x="566635" y="27296061"/>
                    <a:ext cx="2928958" cy="1323439"/>
                  </a:xfrm>
                  <a:prstGeom prst="rect">
                    <a:avLst/>
                  </a:prstGeom>
                  <a:solidFill>
                    <a:srgbClr val="304F7C"/>
                  </a:solidFill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fr-FR" sz="4000" dirty="0" smtClean="0">
                        <a:ln w="18415" cmpd="sng">
                          <a:solidFill>
                            <a:srgbClr val="FFFFFF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Coupe </a:t>
                    </a:r>
                  </a:p>
                  <a:p>
                    <a:pPr algn="ctr"/>
                    <a:r>
                      <a:rPr lang="fr-FR" sz="4000" dirty="0" smtClean="0">
                        <a:ln w="18415" cmpd="sng">
                          <a:solidFill>
                            <a:srgbClr val="FFFFFF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3D</a:t>
                    </a:r>
                    <a:endParaRPr lang="fr-FR" sz="4000" dirty="0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cxnSp>
                <p:nvCxnSpPr>
                  <p:cNvPr id="184" name="Elbow Connector 183"/>
                  <p:cNvCxnSpPr/>
                  <p:nvPr/>
                </p:nvCxnSpPr>
                <p:spPr bwMode="auto">
                  <a:xfrm rot="5400000">
                    <a:off x="6925411" y="23690278"/>
                    <a:ext cx="2285222" cy="794"/>
                  </a:xfrm>
                  <a:prstGeom prst="bentConnector3">
                    <a:avLst>
                      <a:gd name="adj1" fmla="val 50000"/>
                    </a:avLst>
                  </a:prstGeom>
                  <a:ln w="76200">
                    <a:solidFill>
                      <a:schemeClr val="tx1">
                        <a:lumMod val="75000"/>
                        <a:lumOff val="25000"/>
                      </a:schemeClr>
                    </a:solidFill>
                    <a:headEnd type="none" w="med" len="med"/>
                    <a:tailEnd type="arrow"/>
                  </a:ln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4" name="TextBox 193"/>
                  <p:cNvSpPr txBox="1"/>
                  <p:nvPr/>
                </p:nvSpPr>
                <p:spPr>
                  <a:xfrm>
                    <a:off x="3281279" y="19493789"/>
                    <a:ext cx="928694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4000" b="1" dirty="0" smtClean="0"/>
                      <a:t>r</a:t>
                    </a:r>
                    <a:r>
                      <a:rPr lang="el-GR" sz="2000" b="1" dirty="0" smtClean="0"/>
                      <a:t>β</a:t>
                    </a:r>
                    <a:endParaRPr lang="fr-FR" sz="4000" b="1" dirty="0"/>
                  </a:p>
                </p:txBody>
              </p:sp>
              <p:sp>
                <p:nvSpPr>
                  <p:cNvPr id="197" name="TextBox 196"/>
                  <p:cNvSpPr txBox="1"/>
                  <p:nvPr/>
                </p:nvSpPr>
                <p:spPr>
                  <a:xfrm>
                    <a:off x="3352717" y="19922417"/>
                    <a:ext cx="928694" cy="7694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l-GR" sz="4400" b="1" dirty="0" smtClean="0">
                        <a:latin typeface="Times New Roman" pitchFamily="18" charset="0"/>
                        <a:cs typeface="Times New Roman" pitchFamily="18" charset="0"/>
                      </a:rPr>
                      <a:t>γ</a:t>
                    </a:r>
                    <a:endParaRPr lang="fr-FR" sz="4400" b="1" dirty="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03" name="TextBox 202"/>
                  <p:cNvSpPr txBox="1"/>
                  <p:nvPr/>
                </p:nvSpPr>
                <p:spPr>
                  <a:xfrm>
                    <a:off x="4995791" y="19048784"/>
                    <a:ext cx="928694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4000" b="1" dirty="0" smtClean="0"/>
                      <a:t>a</a:t>
                    </a:r>
                    <a:r>
                      <a:rPr lang="fr-FR" sz="2400" b="1" dirty="0" smtClean="0"/>
                      <a:t>p</a:t>
                    </a:r>
                    <a:endParaRPr lang="fr-FR" sz="4000" b="1" dirty="0" smtClean="0"/>
                  </a:p>
                </p:txBody>
              </p:sp>
              <p:sp>
                <p:nvSpPr>
                  <p:cNvPr id="204" name="TextBox 203"/>
                  <p:cNvSpPr txBox="1"/>
                  <p:nvPr/>
                </p:nvSpPr>
                <p:spPr>
                  <a:xfrm>
                    <a:off x="5138667" y="19620288"/>
                    <a:ext cx="928694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4000" b="1" dirty="0" smtClean="0"/>
                      <a:t>f</a:t>
                    </a:r>
                    <a:endParaRPr lang="fr-FR" sz="4000" b="1" dirty="0"/>
                  </a:p>
                </p:txBody>
              </p:sp>
              <p:sp>
                <p:nvSpPr>
                  <p:cNvPr id="318" name="TextBox 317"/>
                  <p:cNvSpPr txBox="1"/>
                  <p:nvPr/>
                </p:nvSpPr>
                <p:spPr>
                  <a:xfrm>
                    <a:off x="3281279" y="18993723"/>
                    <a:ext cx="928694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4000" b="1" dirty="0" smtClean="0"/>
                      <a:t>r</a:t>
                    </a:r>
                    <a:r>
                      <a:rPr lang="el-GR" sz="2800" b="1" dirty="0" smtClean="0"/>
                      <a:t>ε</a:t>
                    </a:r>
                    <a:endParaRPr lang="fr-FR" sz="4000" b="1" dirty="0"/>
                  </a:p>
                </p:txBody>
              </p:sp>
              <p:sp>
                <p:nvSpPr>
                  <p:cNvPr id="319" name="TextBox 318"/>
                  <p:cNvSpPr txBox="1"/>
                  <p:nvPr/>
                </p:nvSpPr>
                <p:spPr>
                  <a:xfrm>
                    <a:off x="4281411" y="20046940"/>
                    <a:ext cx="1500198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4000" b="1" dirty="0" err="1" smtClean="0"/>
                      <a:t>V</a:t>
                    </a:r>
                    <a:r>
                      <a:rPr lang="fr-FR" sz="2800" b="1" dirty="0" err="1" smtClean="0"/>
                      <a:t>c</a:t>
                    </a:r>
                    <a:r>
                      <a:rPr lang="fr-FR" sz="2800" b="1" dirty="0" smtClean="0"/>
                      <a:t> </a:t>
                    </a:r>
                    <a:r>
                      <a:rPr lang="fr-FR" sz="2000" b="1" dirty="0" smtClean="0"/>
                      <a:t>=</a:t>
                    </a:r>
                    <a:r>
                      <a:rPr lang="fr-FR" sz="2000" b="1" dirty="0" err="1" smtClean="0"/>
                      <a:t>cste</a:t>
                    </a:r>
                    <a:endParaRPr lang="fr-FR" sz="4000" b="1" dirty="0"/>
                  </a:p>
                </p:txBody>
              </p:sp>
              <p:sp>
                <p:nvSpPr>
                  <p:cNvPr id="157" name="TextBox 156"/>
                  <p:cNvSpPr txBox="1"/>
                  <p:nvPr/>
                </p:nvSpPr>
                <p:spPr>
                  <a:xfrm>
                    <a:off x="7924749" y="18761056"/>
                    <a:ext cx="407196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2800" b="1" dirty="0" smtClean="0"/>
                      <a:t>(</a:t>
                    </a:r>
                    <a:r>
                      <a:rPr lang="fr-FR" sz="2800" b="1" dirty="0" err="1" smtClean="0"/>
                      <a:t>F</a:t>
                    </a:r>
                    <a:r>
                      <a:rPr lang="fr-FR" sz="2000" b="1" dirty="0" err="1" smtClean="0"/>
                      <a:t>c</a:t>
                    </a:r>
                    <a:r>
                      <a:rPr lang="fr-FR" sz="2800" b="1" dirty="0" smtClean="0"/>
                      <a:t>, </a:t>
                    </a:r>
                    <a:r>
                      <a:rPr lang="fr-FR" sz="2800" b="1" dirty="0" err="1" smtClean="0"/>
                      <a:t>F</a:t>
                    </a:r>
                    <a:r>
                      <a:rPr lang="fr-FR" sz="2000" b="1" dirty="0" err="1" smtClean="0"/>
                      <a:t>p</a:t>
                    </a:r>
                    <a:r>
                      <a:rPr lang="fr-FR" sz="2800" b="1" dirty="0" smtClean="0"/>
                      <a:t>, F</a:t>
                    </a:r>
                    <a:r>
                      <a:rPr lang="fr-FR" sz="2000" b="1" dirty="0" smtClean="0"/>
                      <a:t>a</a:t>
                    </a:r>
                    <a:r>
                      <a:rPr lang="fr-FR" sz="2400" b="1" dirty="0" smtClean="0"/>
                      <a:t>)</a:t>
                    </a:r>
                    <a:r>
                      <a:rPr lang="fr-FR" sz="2000" b="1" dirty="0" smtClean="0"/>
                      <a:t> </a:t>
                    </a:r>
                    <a:r>
                      <a:rPr lang="fr-FR" sz="2400" b="1" dirty="0" smtClean="0"/>
                      <a:t>= f(r</a:t>
                    </a:r>
                    <a:r>
                      <a:rPr lang="el-GR" sz="1800" b="1" dirty="0" smtClean="0"/>
                      <a:t>ε</a:t>
                    </a:r>
                    <a:r>
                      <a:rPr lang="fr-FR" sz="2400" b="1" dirty="0" smtClean="0"/>
                      <a:t>, f, </a:t>
                    </a:r>
                    <a:r>
                      <a:rPr lang="fr-FR" sz="2400" b="1" dirty="0" err="1" smtClean="0"/>
                      <a:t>a</a:t>
                    </a:r>
                    <a:r>
                      <a:rPr lang="fr-FR" sz="1800" b="1" dirty="0" err="1" smtClean="0"/>
                      <a:t>p</a:t>
                    </a:r>
                    <a:r>
                      <a:rPr lang="fr-FR" sz="2400" b="1" dirty="0" smtClean="0"/>
                      <a:t>) </a:t>
                    </a:r>
                    <a:endParaRPr lang="fr-FR" sz="3200" b="1" dirty="0"/>
                  </a:p>
                </p:txBody>
              </p:sp>
              <p:sp>
                <p:nvSpPr>
                  <p:cNvPr id="166" name="Down Arrow 165"/>
                  <p:cNvSpPr/>
                  <p:nvPr/>
                </p:nvSpPr>
                <p:spPr bwMode="auto">
                  <a:xfrm>
                    <a:off x="9639261" y="20689882"/>
                    <a:ext cx="357190" cy="642942"/>
                  </a:xfrm>
                  <a:prstGeom prst="downArrow">
                    <a:avLst>
                      <a:gd name="adj1" fmla="val 50000"/>
                      <a:gd name="adj2" fmla="val 86113"/>
                    </a:avLst>
                  </a:prstGeom>
                  <a:ln>
                    <a:headEnd type="none" w="med" len="med"/>
                    <a:tailEnd type="none" w="med" len="med"/>
                  </a:ln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398621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sz="7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67" name="Down Arrow 166"/>
                  <p:cNvSpPr/>
                  <p:nvPr/>
                </p:nvSpPr>
                <p:spPr bwMode="auto">
                  <a:xfrm flipV="1">
                    <a:off x="9639261" y="22547270"/>
                    <a:ext cx="357190" cy="714380"/>
                  </a:xfrm>
                  <a:prstGeom prst="downArrow">
                    <a:avLst>
                      <a:gd name="adj1" fmla="val 50000"/>
                      <a:gd name="adj2" fmla="val 86113"/>
                    </a:avLst>
                  </a:prstGeom>
                  <a:ln>
                    <a:headEnd type="none" w="med" len="med"/>
                    <a:tailEnd type="none" w="med" len="med"/>
                  </a:ln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398621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sz="7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68" name="Right Arrow 167"/>
                  <p:cNvSpPr/>
                  <p:nvPr/>
                </p:nvSpPr>
                <p:spPr bwMode="auto">
                  <a:xfrm>
                    <a:off x="6638865" y="21690014"/>
                    <a:ext cx="1000132" cy="492518"/>
                  </a:xfrm>
                  <a:prstGeom prst="rightArrow">
                    <a:avLst/>
                  </a:prstGeom>
                  <a:ln>
                    <a:headEnd type="none" w="med" len="med"/>
                    <a:tailEnd type="none" w="med" len="med"/>
                  </a:ln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398621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sz="7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20" name="TextBox 319"/>
                  <p:cNvSpPr txBox="1"/>
                  <p:nvPr/>
                </p:nvSpPr>
                <p:spPr>
                  <a:xfrm>
                    <a:off x="7710435" y="21355454"/>
                    <a:ext cx="4143404" cy="1191816"/>
                  </a:xfrm>
                  <a:prstGeom prst="roundRect">
                    <a:avLst/>
                  </a:prstGeom>
                  <a:ln w="38100">
                    <a:solidFill>
                      <a:srgbClr val="304F7C"/>
                    </a:solidFill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3200" b="1" dirty="0" smtClean="0">
                        <a:solidFill>
                          <a:srgbClr val="304F7C"/>
                        </a:solidFill>
                      </a:rPr>
                      <a:t>Géométrie de coupe équivalente</a:t>
                    </a:r>
                    <a:endParaRPr lang="fr-FR" sz="3200" b="1" dirty="0">
                      <a:solidFill>
                        <a:srgbClr val="304F7C"/>
                      </a:solidFill>
                    </a:endParaRPr>
                  </a:p>
                </p:txBody>
              </p:sp>
              <p:sp>
                <p:nvSpPr>
                  <p:cNvPr id="213" name="TextBox 212"/>
                  <p:cNvSpPr txBox="1"/>
                  <p:nvPr/>
                </p:nvSpPr>
                <p:spPr>
                  <a:xfrm>
                    <a:off x="7210369" y="18046676"/>
                    <a:ext cx="4000528" cy="715089"/>
                  </a:xfrm>
                  <a:prstGeom prst="roundRect">
                    <a:avLst/>
                  </a:prstGeom>
                  <a:ln w="38100">
                    <a:solidFill>
                      <a:srgbClr val="304F7C"/>
                    </a:solidFill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3600" b="1" dirty="0" smtClean="0">
                        <a:solidFill>
                          <a:srgbClr val="304F7C"/>
                        </a:solidFill>
                      </a:rPr>
                      <a:t>Efforts de coupe</a:t>
                    </a:r>
                    <a:endParaRPr lang="fr-FR" sz="3600" b="1" dirty="0">
                      <a:solidFill>
                        <a:srgbClr val="304F7C"/>
                      </a:solidFill>
                    </a:endParaRPr>
                  </a:p>
                </p:txBody>
              </p:sp>
              <p:cxnSp>
                <p:nvCxnSpPr>
                  <p:cNvPr id="217" name="Elbow Connector 216"/>
                  <p:cNvCxnSpPr/>
                  <p:nvPr/>
                </p:nvCxnSpPr>
                <p:spPr bwMode="auto">
                  <a:xfrm rot="5400000" flipH="1" flipV="1">
                    <a:off x="5494869" y="19476424"/>
                    <a:ext cx="2645182" cy="1357322"/>
                  </a:xfrm>
                  <a:prstGeom prst="bentConnector3">
                    <a:avLst>
                      <a:gd name="adj1" fmla="val -3641"/>
                    </a:avLst>
                  </a:prstGeom>
                  <a:ln w="57150">
                    <a:headEnd type="none" w="med" len="med"/>
                    <a:tailEnd type="arrow"/>
                  </a:ln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2" name="TextBox 191"/>
                  <p:cNvSpPr txBox="1"/>
                  <p:nvPr/>
                </p:nvSpPr>
                <p:spPr>
                  <a:xfrm>
                    <a:off x="3281279" y="20915771"/>
                    <a:ext cx="3429024" cy="2043113"/>
                  </a:xfrm>
                  <a:prstGeom prst="roundRect">
                    <a:avLst/>
                  </a:prstGeom>
                  <a:ln w="57150">
                    <a:solidFill>
                      <a:srgbClr val="999999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fr-FR" sz="1400" b="1" dirty="0" smtClean="0">
                      <a:solidFill>
                        <a:schemeClr val="tx1"/>
                      </a:solidFill>
                    </a:endParaRPr>
                  </a:p>
                  <a:p>
                    <a:pPr algn="ctr"/>
                    <a:r>
                      <a:rPr lang="fr-FR" sz="4000" b="1" dirty="0" smtClean="0">
                        <a:solidFill>
                          <a:schemeClr val="tx1"/>
                        </a:solidFill>
                      </a:rPr>
                      <a:t>Tournage </a:t>
                    </a:r>
                    <a:r>
                      <a:rPr lang="fr-FR" sz="3600" b="1" dirty="0" smtClean="0">
                        <a:solidFill>
                          <a:schemeClr val="tx1"/>
                        </a:solidFill>
                      </a:rPr>
                      <a:t>en</a:t>
                    </a:r>
                    <a:r>
                      <a:rPr lang="fr-FR" sz="4000" b="1" dirty="0" smtClean="0">
                        <a:solidFill>
                          <a:schemeClr val="tx1"/>
                        </a:solidFill>
                      </a:rPr>
                      <a:t> Chariotage</a:t>
                    </a:r>
                  </a:p>
                  <a:p>
                    <a:pPr algn="ctr"/>
                    <a:endParaRPr lang="fr-FR" sz="20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8" name="TextBox 227"/>
                  <p:cNvSpPr txBox="1"/>
                  <p:nvPr/>
                </p:nvSpPr>
                <p:spPr>
                  <a:xfrm>
                    <a:off x="6138799" y="19689750"/>
                    <a:ext cx="1357321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2000" b="1" dirty="0" smtClean="0"/>
                      <a:t>Mesures </a:t>
                    </a:r>
                  </a:p>
                  <a:p>
                    <a:pPr algn="r"/>
                    <a:r>
                      <a:rPr lang="fr-FR" sz="2000" b="1" dirty="0" smtClean="0"/>
                      <a:t>en ligne</a:t>
                    </a:r>
                    <a:endParaRPr lang="fr-FR" sz="2000" b="1" dirty="0"/>
                  </a:p>
                </p:txBody>
              </p:sp>
              <p:sp>
                <p:nvSpPr>
                  <p:cNvPr id="282" name="Arc 281"/>
                  <p:cNvSpPr/>
                  <p:nvPr/>
                </p:nvSpPr>
                <p:spPr bwMode="auto">
                  <a:xfrm rot="2936896">
                    <a:off x="6803466" y="19069932"/>
                    <a:ext cx="5386139" cy="5540666"/>
                  </a:xfrm>
                  <a:prstGeom prst="arc">
                    <a:avLst/>
                  </a:prstGeom>
                  <a:ln w="88900">
                    <a:solidFill>
                      <a:srgbClr val="304F7C"/>
                    </a:solidFill>
                    <a:headEnd type="none" w="med" len="med"/>
                    <a:tailEnd type="none" w="med" len="med"/>
                  </a:ln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3986213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sz="7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16" name="TextBox 315"/>
                  <p:cNvSpPr txBox="1"/>
                  <p:nvPr/>
                </p:nvSpPr>
                <p:spPr>
                  <a:xfrm>
                    <a:off x="7996187" y="19332560"/>
                    <a:ext cx="3643338" cy="144655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3200" b="1" dirty="0" smtClean="0"/>
                      <a:t>Effet d’une passe sur une autre</a:t>
                    </a:r>
                  </a:p>
                  <a:p>
                    <a:pPr algn="ctr"/>
                    <a:r>
                      <a:rPr lang="fr-FR" sz="2400" b="1" dirty="0" smtClean="0"/>
                      <a:t>par variation de f et r</a:t>
                    </a:r>
                    <a:r>
                      <a:rPr lang="el-GR" sz="1800" b="1" dirty="0" smtClean="0"/>
                      <a:t>ε</a:t>
                    </a:r>
                    <a:endParaRPr lang="fr-FR" sz="2400" b="1" dirty="0"/>
                  </a:p>
                </p:txBody>
              </p:sp>
              <p:sp>
                <p:nvSpPr>
                  <p:cNvPr id="315" name="TextBox 314"/>
                  <p:cNvSpPr txBox="1"/>
                  <p:nvPr/>
                </p:nvSpPr>
                <p:spPr>
                  <a:xfrm>
                    <a:off x="8281939" y="23047336"/>
                    <a:ext cx="3071834" cy="156966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3200" b="1" dirty="0" smtClean="0"/>
                      <a:t>Effet de la variation de </a:t>
                    </a:r>
                    <a:r>
                      <a:rPr lang="fr-FR" sz="3200" b="1" dirty="0" err="1" smtClean="0"/>
                      <a:t>a</a:t>
                    </a:r>
                    <a:r>
                      <a:rPr lang="fr-FR" sz="2000" b="1" dirty="0" err="1" smtClean="0"/>
                      <a:t>p</a:t>
                    </a:r>
                    <a:r>
                      <a:rPr lang="fr-FR" sz="3200" b="1" dirty="0" smtClean="0"/>
                      <a:t> sur h</a:t>
                    </a:r>
                    <a:r>
                      <a:rPr lang="fr-FR" sz="2000" b="1" dirty="0" smtClean="0"/>
                      <a:t>s max</a:t>
                    </a:r>
                    <a:endParaRPr lang="fr-FR" sz="3200" b="1" dirty="0"/>
                  </a:p>
                </p:txBody>
              </p:sp>
              <p:sp>
                <p:nvSpPr>
                  <p:cNvPr id="200" name="TextBox 199"/>
                  <p:cNvSpPr txBox="1"/>
                  <p:nvPr/>
                </p:nvSpPr>
                <p:spPr>
                  <a:xfrm>
                    <a:off x="4995791" y="18191528"/>
                    <a:ext cx="1857388" cy="83099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2400" b="1" dirty="0" smtClean="0"/>
                      <a:t>Conditions de coupe</a:t>
                    </a:r>
                    <a:endParaRPr lang="fr-FR" sz="2400" b="1" dirty="0"/>
                  </a:p>
                </p:txBody>
              </p:sp>
              <p:sp>
                <p:nvSpPr>
                  <p:cNvPr id="191" name="TextBox 190"/>
                  <p:cNvSpPr txBox="1"/>
                  <p:nvPr/>
                </p:nvSpPr>
                <p:spPr>
                  <a:xfrm>
                    <a:off x="1852519" y="18191529"/>
                    <a:ext cx="2928958" cy="830997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2400" b="1" dirty="0" smtClean="0"/>
                      <a:t>Géométrie et matériau de l’outil</a:t>
                    </a:r>
                    <a:endParaRPr lang="fr-FR" sz="2400" b="1" dirty="0"/>
                  </a:p>
                </p:txBody>
              </p:sp>
              <p:sp>
                <p:nvSpPr>
                  <p:cNvPr id="195" name="TextBox 194"/>
                  <p:cNvSpPr txBox="1"/>
                  <p:nvPr/>
                </p:nvSpPr>
                <p:spPr>
                  <a:xfrm>
                    <a:off x="780949" y="20261254"/>
                    <a:ext cx="2357454" cy="923330"/>
                  </a:xfrm>
                  <a:prstGeom prst="rect">
                    <a:avLst/>
                  </a:prstGeom>
                  <a:solidFill>
                    <a:schemeClr val="bg1"/>
                  </a:solidFill>
                  <a:ln/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  <a:scene3d>
                      <a:camera prst="orthographicFront"/>
                      <a:lightRig rig="glow" dir="tl">
                        <a:rot lat="0" lon="0" rev="5400000"/>
                      </a:lightRig>
                    </a:scene3d>
                    <a:sp3d contourW="12700">
                      <a:bevelT w="25400" h="25400"/>
                      <a:contourClr>
                        <a:schemeClr val="accent6">
                          <a:shade val="73000"/>
                        </a:schemeClr>
                      </a:contourClr>
                    </a:sp3d>
                  </a:bodyPr>
                  <a:lstStyle/>
                  <a:p>
                    <a:pPr algn="ctr"/>
                    <a:r>
                      <a:rPr lang="fr-FR" sz="5400" b="1" dirty="0" smtClean="0">
                        <a:ln w="11430"/>
                        <a:gradFill>
                          <a:gsLst>
                            <a:gs pos="0">
                              <a:schemeClr val="accent6">
                                <a:tint val="90000"/>
                                <a:satMod val="120000"/>
                              </a:schemeClr>
                            </a:gs>
                            <a:gs pos="25000">
                              <a:schemeClr val="accent6">
                                <a:tint val="93000"/>
                                <a:satMod val="120000"/>
                              </a:schemeClr>
                            </a:gs>
                            <a:gs pos="50000">
                              <a:schemeClr val="accent6">
                                <a:shade val="89000"/>
                                <a:satMod val="110000"/>
                              </a:schemeClr>
                            </a:gs>
                            <a:gs pos="75000">
                              <a:schemeClr val="accent6">
                                <a:tint val="93000"/>
                                <a:satMod val="120000"/>
                              </a:schemeClr>
                            </a:gs>
                            <a:gs pos="100000">
                              <a:schemeClr val="accent6">
                                <a:tint val="90000"/>
                                <a:satMod val="12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outerShdw blurRad="80000" dist="40000" dir="5040000" algn="tl">
                            <a:srgbClr val="000000">
                              <a:alpha val="30000"/>
                            </a:srgbClr>
                          </a:outerShdw>
                        </a:effectLst>
                      </a:rPr>
                      <a:t>Cu-c2</a:t>
                    </a:r>
                    <a:endParaRPr lang="fr-FR" sz="5400" b="1" dirty="0">
                      <a:ln w="11430"/>
                      <a:gradFill>
                        <a:gsLst>
                          <a:gs pos="0">
                            <a:schemeClr val="accent6">
                              <a:tint val="90000"/>
                              <a:satMod val="120000"/>
                            </a:schemeClr>
                          </a:gs>
                          <a:gs pos="25000">
                            <a:schemeClr val="accent6">
                              <a:tint val="93000"/>
                              <a:satMod val="120000"/>
                            </a:schemeClr>
                          </a:gs>
                          <a:gs pos="50000">
                            <a:schemeClr val="accent6">
                              <a:shade val="89000"/>
                              <a:satMod val="110000"/>
                            </a:schemeClr>
                          </a:gs>
                          <a:gs pos="75000">
                            <a:schemeClr val="accent6">
                              <a:tint val="93000"/>
                              <a:satMod val="120000"/>
                            </a:schemeClr>
                          </a:gs>
                          <a:gs pos="100000">
                            <a:schemeClr val="accent6">
                              <a:tint val="90000"/>
                              <a:satMod val="120000"/>
                            </a:schemeClr>
                          </a:gs>
                        </a:gsLst>
                        <a:lin ang="5400000"/>
                      </a:gradFill>
                      <a:effectLst>
                        <a:outerShdw blurRad="80000" dist="40000" dir="5040000" algn="tl">
                          <a:srgbClr val="000000">
                            <a:alpha val="30000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221" name="Down Arrow 220"/>
                <p:cNvSpPr/>
                <p:nvPr/>
              </p:nvSpPr>
              <p:spPr bwMode="auto">
                <a:xfrm>
                  <a:off x="5710171" y="18546742"/>
                  <a:ext cx="285752" cy="1857388"/>
                </a:xfrm>
                <a:prstGeom prst="downArrow">
                  <a:avLst>
                    <a:gd name="adj1" fmla="val 50000"/>
                    <a:gd name="adj2" fmla="val 86113"/>
                  </a:avLst>
                </a:prstGeom>
                <a:solidFill>
                  <a:srgbClr val="F294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398621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sz="7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22" name="Down Arrow 221"/>
                <p:cNvSpPr/>
                <p:nvPr/>
              </p:nvSpPr>
              <p:spPr bwMode="auto">
                <a:xfrm>
                  <a:off x="3924221" y="18546742"/>
                  <a:ext cx="285752" cy="1857388"/>
                </a:xfrm>
                <a:prstGeom prst="downArrow">
                  <a:avLst>
                    <a:gd name="adj1" fmla="val 50000"/>
                    <a:gd name="adj2" fmla="val 86113"/>
                  </a:avLst>
                </a:prstGeom>
                <a:solidFill>
                  <a:srgbClr val="F29400"/>
                </a:solidFill>
                <a:ln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398621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sz="7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224" name="Bent-Up Arrow 223"/>
              <p:cNvSpPr/>
              <p:nvPr/>
            </p:nvSpPr>
            <p:spPr bwMode="auto">
              <a:xfrm rot="5400000">
                <a:off x="2051355" y="20602966"/>
                <a:ext cx="1102526" cy="1357322"/>
              </a:xfrm>
              <a:prstGeom prst="bentUpArrow">
                <a:avLst>
                  <a:gd name="adj1" fmla="val 25000"/>
                  <a:gd name="adj2" fmla="val 27406"/>
                  <a:gd name="adj3" fmla="val 38496"/>
                </a:avLst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398621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7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242" name="Rectangle 241"/>
            <p:cNvSpPr/>
            <p:nvPr/>
          </p:nvSpPr>
          <p:spPr>
            <a:xfrm>
              <a:off x="852387" y="25904856"/>
              <a:ext cx="27860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2400" dirty="0" smtClean="0"/>
                <a:t>Opération de </a:t>
              </a:r>
              <a:r>
                <a:rPr lang="fr-FR" sz="2400" i="1" dirty="0" smtClean="0"/>
                <a:t>chariotage</a:t>
              </a:r>
              <a:endParaRPr lang="fr-FR" sz="2400" dirty="0"/>
            </a:p>
          </p:txBody>
        </p:sp>
      </p:grpSp>
      <p:grpSp>
        <p:nvGrpSpPr>
          <p:cNvPr id="362" name="Group 361"/>
          <p:cNvGrpSpPr/>
          <p:nvPr/>
        </p:nvGrpSpPr>
        <p:grpSpPr>
          <a:xfrm>
            <a:off x="16211556" y="29691066"/>
            <a:ext cx="13679535" cy="10215638"/>
            <a:chOff x="16211556" y="29691066"/>
            <a:chExt cx="13679535" cy="10215638"/>
          </a:xfrm>
        </p:grpSpPr>
        <p:grpSp>
          <p:nvGrpSpPr>
            <p:cNvPr id="284" name="Group 283"/>
            <p:cNvGrpSpPr/>
            <p:nvPr/>
          </p:nvGrpSpPr>
          <p:grpSpPr>
            <a:xfrm>
              <a:off x="18068945" y="29905384"/>
              <a:ext cx="10572824" cy="3262432"/>
              <a:chOff x="17997507" y="30850738"/>
              <a:chExt cx="10572824" cy="3262432"/>
            </a:xfrm>
          </p:grpSpPr>
          <p:sp>
            <p:nvSpPr>
              <p:cNvPr id="275" name="TextBox 274"/>
              <p:cNvSpPr txBox="1"/>
              <p:nvPr/>
            </p:nvSpPr>
            <p:spPr>
              <a:xfrm>
                <a:off x="23212481" y="30850738"/>
                <a:ext cx="5357850" cy="3262432"/>
              </a:xfrm>
              <a:prstGeom prst="rect">
                <a:avLst/>
              </a:prstGeom>
              <a:noFill/>
              <a:ln w="101600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fr-FR" sz="1000" dirty="0"/>
              </a:p>
              <a:p>
                <a:pPr algn="ctr"/>
                <a:r>
                  <a:rPr lang="fr-FR" sz="3200" b="1" dirty="0" smtClean="0"/>
                  <a:t>     </a:t>
                </a:r>
              </a:p>
              <a:p>
                <a:endParaRPr lang="fr-FR" sz="2000" b="1" dirty="0" smtClean="0"/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fr-FR" sz="2800" dirty="0" smtClean="0"/>
                  <a:t>Rayon du bec de l’outil r</a:t>
                </a:r>
                <a:r>
                  <a:rPr lang="el-GR" sz="2800" baseline="-25000" dirty="0" smtClean="0"/>
                  <a:t>ε</a:t>
                </a:r>
                <a:r>
                  <a:rPr lang="fr-FR" sz="2800" baseline="-25000" dirty="0" smtClean="0"/>
                  <a:t> </a:t>
                </a:r>
                <a:r>
                  <a:rPr lang="fr-FR" sz="3200" dirty="0" smtClean="0"/>
                  <a:t> </a:t>
                </a:r>
                <a:r>
                  <a:rPr lang="fr-FR" sz="2800" dirty="0" smtClean="0"/>
                  <a:t>0.4 mm et 0.8 mm</a:t>
                </a:r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fr-FR" sz="2800" dirty="0" smtClean="0"/>
                  <a:t>Epaisseur de coupe </a:t>
                </a:r>
                <a:r>
                  <a:rPr lang="fr-FR" sz="2800" dirty="0" err="1" smtClean="0"/>
                  <a:t>a</a:t>
                </a:r>
                <a:r>
                  <a:rPr lang="fr-FR" sz="2000" dirty="0" err="1" smtClean="0"/>
                  <a:t>p</a:t>
                </a:r>
                <a:endParaRPr lang="fr-FR" sz="2000" dirty="0" smtClean="0"/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fr-FR" sz="2800" dirty="0" smtClean="0"/>
                  <a:t>Avance f permettant d’avoir h &gt; </a:t>
                </a:r>
                <a:r>
                  <a:rPr lang="fr-FR" sz="2800" dirty="0" err="1" smtClean="0"/>
                  <a:t>h</a:t>
                </a:r>
                <a:r>
                  <a:rPr lang="fr-FR" sz="2400" dirty="0" err="1" smtClean="0"/>
                  <a:t>s</a:t>
                </a:r>
                <a:r>
                  <a:rPr lang="fr-FR" sz="2400" dirty="0" smtClean="0"/>
                  <a:t> max</a:t>
                </a:r>
                <a:endParaRPr lang="fr-FR" sz="2800" dirty="0" smtClean="0"/>
              </a:p>
            </p:txBody>
          </p:sp>
          <p:sp>
            <p:nvSpPr>
              <p:cNvPr id="278" name="TextBox 277"/>
              <p:cNvSpPr txBox="1"/>
              <p:nvPr/>
            </p:nvSpPr>
            <p:spPr>
              <a:xfrm>
                <a:off x="17997507" y="31493680"/>
                <a:ext cx="4143404" cy="1908215"/>
              </a:xfrm>
              <a:prstGeom prst="rect">
                <a:avLst/>
              </a:prstGeom>
              <a:noFill/>
              <a:ln w="101600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fr-FR" sz="1000" dirty="0"/>
              </a:p>
              <a:p>
                <a:pPr algn="ctr"/>
                <a:r>
                  <a:rPr lang="fr-FR" sz="3200" b="1" dirty="0" smtClean="0"/>
                  <a:t>   </a:t>
                </a:r>
              </a:p>
              <a:p>
                <a:endParaRPr lang="fr-FR" sz="2000" b="1" dirty="0" smtClean="0"/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fr-FR" sz="2800" dirty="0" smtClean="0"/>
                  <a:t>Vitesse de coupe V</a:t>
                </a:r>
                <a:r>
                  <a:rPr lang="fr-FR" sz="2800" baseline="-25000" dirty="0" smtClean="0"/>
                  <a:t>C </a:t>
                </a:r>
                <a:r>
                  <a:rPr lang="fr-FR" sz="2800" dirty="0" smtClean="0"/>
                  <a:t>= 140 m/min</a:t>
                </a:r>
              </a:p>
            </p:txBody>
          </p:sp>
        </p:grpSp>
        <p:grpSp>
          <p:nvGrpSpPr>
            <p:cNvPr id="293" name="Group 292"/>
            <p:cNvGrpSpPr/>
            <p:nvPr/>
          </p:nvGrpSpPr>
          <p:grpSpPr>
            <a:xfrm>
              <a:off x="17997507" y="33691598"/>
              <a:ext cx="11787270" cy="2677656"/>
              <a:chOff x="17997507" y="29933619"/>
              <a:chExt cx="11787270" cy="2677656"/>
            </a:xfrm>
          </p:grpSpPr>
          <p:sp>
            <p:nvSpPr>
              <p:cNvPr id="295" name="TextBox 294"/>
              <p:cNvSpPr txBox="1"/>
              <p:nvPr/>
            </p:nvSpPr>
            <p:spPr>
              <a:xfrm>
                <a:off x="23283919" y="30537876"/>
                <a:ext cx="6500858" cy="1538883"/>
              </a:xfrm>
              <a:prstGeom prst="rect">
                <a:avLst/>
              </a:prstGeom>
              <a:noFill/>
              <a:ln w="101600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fr-FR" sz="1000" dirty="0"/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fr-FR" sz="2800" dirty="0" smtClean="0"/>
                  <a:t>Epaisseur de coupe h: de l’ordre de grandeur de </a:t>
                </a:r>
                <a:r>
                  <a:rPr lang="fr-FR" sz="2800" dirty="0" err="1" smtClean="0"/>
                  <a:t>h</a:t>
                </a:r>
                <a:r>
                  <a:rPr lang="fr-FR" sz="2000" dirty="0" err="1" smtClean="0"/>
                  <a:t>s</a:t>
                </a:r>
                <a:r>
                  <a:rPr lang="fr-FR" sz="2000" dirty="0" smtClean="0"/>
                  <a:t> max </a:t>
                </a:r>
                <a:r>
                  <a:rPr lang="fr-FR" sz="2800" dirty="0" smtClean="0"/>
                  <a:t>trouvé en coupe 3D</a:t>
                </a:r>
                <a:endParaRPr lang="fr-FR" sz="2000" dirty="0" smtClean="0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17997507" y="29933619"/>
                <a:ext cx="4143404" cy="2677656"/>
              </a:xfrm>
              <a:prstGeom prst="rect">
                <a:avLst/>
              </a:prstGeom>
              <a:noFill/>
              <a:ln w="101600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fr-FR" sz="2800" dirty="0" smtClean="0"/>
                  <a:t>Angle de direction d’arête </a:t>
                </a:r>
                <a:r>
                  <a:rPr lang="el-GR" sz="2800" dirty="0" smtClean="0"/>
                  <a:t>κ</a:t>
                </a:r>
                <a:r>
                  <a:rPr lang="fr-FR" sz="2800" dirty="0" smtClean="0"/>
                  <a:t>r : 90°</a:t>
                </a:r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fr-FR" sz="2800" dirty="0" smtClean="0"/>
                  <a:t>Angle d’inclinaison d’arête </a:t>
                </a:r>
                <a:r>
                  <a:rPr lang="el-GR" sz="2800" dirty="0" smtClean="0"/>
                  <a:t>λ</a:t>
                </a:r>
                <a:r>
                  <a:rPr lang="fr-FR" sz="2800" baseline="-25000" dirty="0" smtClean="0"/>
                  <a:t>s </a:t>
                </a:r>
                <a:r>
                  <a:rPr lang="fr-FR" sz="2800" dirty="0" smtClean="0"/>
                  <a:t>:  0°</a:t>
                </a:r>
              </a:p>
              <a:p>
                <a:pPr marL="914400" lvl="1" indent="-457200">
                  <a:buFont typeface="Wingdings" pitchFamily="2" charset="2"/>
                  <a:buChar char="Ø"/>
                </a:pPr>
                <a:r>
                  <a:rPr lang="fr-FR" sz="2800" dirty="0" smtClean="0"/>
                  <a:t>Vitesse de coupe V</a:t>
                </a:r>
                <a:r>
                  <a:rPr lang="fr-FR" sz="2800" baseline="-25000" dirty="0" smtClean="0"/>
                  <a:t>C </a:t>
                </a:r>
                <a:r>
                  <a:rPr lang="fr-FR" sz="2800" dirty="0" smtClean="0"/>
                  <a:t>= 140 m/min</a:t>
                </a:r>
              </a:p>
            </p:txBody>
          </p:sp>
        </p:grpSp>
        <p:grpSp>
          <p:nvGrpSpPr>
            <p:cNvPr id="337" name="Group 336"/>
            <p:cNvGrpSpPr/>
            <p:nvPr/>
          </p:nvGrpSpPr>
          <p:grpSpPr>
            <a:xfrm>
              <a:off x="16211556" y="30548325"/>
              <a:ext cx="1800001" cy="9313355"/>
              <a:chOff x="16211556" y="30548325"/>
              <a:chExt cx="1800001" cy="9313355"/>
            </a:xfrm>
          </p:grpSpPr>
          <p:sp>
            <p:nvSpPr>
              <p:cNvPr id="266" name="TextBox 265"/>
              <p:cNvSpPr txBox="1"/>
              <p:nvPr/>
            </p:nvSpPr>
            <p:spPr>
              <a:xfrm>
                <a:off x="16211557" y="30548325"/>
                <a:ext cx="1800000" cy="2916000"/>
              </a:xfrm>
              <a:prstGeom prst="rect">
                <a:avLst/>
              </a:prstGeom>
              <a:gradFill>
                <a:gsLst>
                  <a:gs pos="0">
                    <a:srgbClr val="304F7C"/>
                  </a:gs>
                  <a:gs pos="35000">
                    <a:schemeClr val="accent6">
                      <a:tint val="37000"/>
                      <a:satMod val="300000"/>
                    </a:schemeClr>
                  </a:gs>
                  <a:gs pos="100000">
                    <a:schemeClr val="bg1"/>
                  </a:gs>
                </a:gsLst>
              </a:gradFill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fr-FR" sz="2800" b="1" dirty="0" smtClean="0"/>
              </a:p>
              <a:p>
                <a:pPr algn="ctr"/>
                <a:endParaRPr lang="fr-FR" sz="2800" b="1" dirty="0" smtClean="0"/>
              </a:p>
              <a:p>
                <a:pPr algn="ctr"/>
                <a:r>
                  <a:rPr lang="fr-FR" sz="2800" b="1" dirty="0" smtClean="0"/>
                  <a:t>I) En coupe 3D </a:t>
                </a:r>
              </a:p>
              <a:p>
                <a:pPr algn="ctr"/>
                <a:endParaRPr lang="fr-FR" sz="2800" dirty="0"/>
              </a:p>
            </p:txBody>
          </p:sp>
          <p:sp>
            <p:nvSpPr>
              <p:cNvPr id="298" name="TextBox 297"/>
              <p:cNvSpPr txBox="1"/>
              <p:nvPr/>
            </p:nvSpPr>
            <p:spPr>
              <a:xfrm>
                <a:off x="16211556" y="33477284"/>
                <a:ext cx="1800000" cy="2988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fr-FR" sz="2800" b="1" dirty="0" smtClean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2800" b="1" dirty="0" smtClean="0">
                    <a:solidFill>
                      <a:schemeClr val="tx1"/>
                    </a:solidFill>
                  </a:rPr>
                  <a:t>II) En coupe ortho-</a:t>
                </a:r>
              </a:p>
              <a:p>
                <a:pPr algn="ctr"/>
                <a:r>
                  <a:rPr lang="fr-FR" sz="2800" b="1" dirty="0" err="1" smtClean="0">
                    <a:solidFill>
                      <a:schemeClr val="tx1"/>
                    </a:solidFill>
                  </a:rPr>
                  <a:t>gonale</a:t>
                </a:r>
                <a:endParaRPr lang="fr-FR" sz="2800" b="1" dirty="0" smtClean="0">
                  <a:solidFill>
                    <a:schemeClr val="tx1"/>
                  </a:solidFill>
                </a:endParaRPr>
              </a:p>
              <a:p>
                <a:pPr algn="ctr"/>
                <a:endParaRPr lang="fr-FR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16211557" y="36477680"/>
                <a:ext cx="1785950" cy="3384000"/>
              </a:xfrm>
              <a:prstGeom prst="rect">
                <a:avLst/>
              </a:prstGeom>
              <a:gradFill>
                <a:gsLst>
                  <a:gs pos="0">
                    <a:srgbClr val="FFCC66"/>
                  </a:gs>
                  <a:gs pos="35000">
                    <a:srgbClr val="FFCC66"/>
                  </a:gs>
                  <a:gs pos="100000">
                    <a:schemeClr val="bg1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fr-FR" sz="2800" b="1" dirty="0" smtClean="0"/>
              </a:p>
              <a:p>
                <a:pPr algn="ctr"/>
                <a:r>
                  <a:rPr lang="fr-FR" sz="2800" b="1" dirty="0" smtClean="0"/>
                  <a:t>III) En réactivité électro-</a:t>
                </a:r>
              </a:p>
              <a:p>
                <a:pPr algn="ctr"/>
                <a:r>
                  <a:rPr lang="fr-FR" sz="2800" b="1" dirty="0" smtClean="0"/>
                  <a:t>chimique</a:t>
                </a:r>
              </a:p>
            </p:txBody>
          </p:sp>
        </p:grpSp>
        <p:cxnSp>
          <p:nvCxnSpPr>
            <p:cNvPr id="310" name="Elbow Connector 309"/>
            <p:cNvCxnSpPr/>
            <p:nvPr/>
          </p:nvCxnSpPr>
          <p:spPr bwMode="auto">
            <a:xfrm rot="16200000" flipH="1">
              <a:off x="18230217" y="34781565"/>
              <a:ext cx="10071964" cy="35438"/>
            </a:xfrm>
            <a:prstGeom prst="bentConnector3">
              <a:avLst>
                <a:gd name="adj1" fmla="val 100402"/>
              </a:avLst>
            </a:prstGeom>
            <a:solidFill>
              <a:schemeClr val="accent1"/>
            </a:solidFill>
            <a:ln w="9525" cap="flat" cmpd="sng" algn="ctr">
              <a:solidFill>
                <a:srgbClr val="8E246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" name="Elbow Connector 327"/>
            <p:cNvCxnSpPr/>
            <p:nvPr/>
          </p:nvCxnSpPr>
          <p:spPr bwMode="auto">
            <a:xfrm>
              <a:off x="16497309" y="33477284"/>
              <a:ext cx="13358906" cy="1588"/>
            </a:xfrm>
            <a:prstGeom prst="bentConnector3">
              <a:avLst>
                <a:gd name="adj1" fmla="val 99911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1" name="Elbow Connector 330"/>
            <p:cNvCxnSpPr/>
            <p:nvPr/>
          </p:nvCxnSpPr>
          <p:spPr bwMode="auto">
            <a:xfrm>
              <a:off x="16497309" y="36476092"/>
              <a:ext cx="13358906" cy="1588"/>
            </a:xfrm>
            <a:prstGeom prst="bentConnector3">
              <a:avLst>
                <a:gd name="adj1" fmla="val 99982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TextBox 350"/>
            <p:cNvSpPr txBox="1"/>
            <p:nvPr/>
          </p:nvSpPr>
          <p:spPr>
            <a:xfrm>
              <a:off x="17997507" y="29691066"/>
              <a:ext cx="5256000" cy="864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fr-FR" sz="3200" b="1" dirty="0" smtClean="0">
                  <a:solidFill>
                    <a:schemeClr val="tx1"/>
                  </a:solidFill>
                </a:rPr>
                <a:t>Paramètres constants</a:t>
              </a:r>
              <a:endParaRPr lang="fr-FR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352" name="TextBox 351"/>
            <p:cNvSpPr txBox="1"/>
            <p:nvPr/>
          </p:nvSpPr>
          <p:spPr>
            <a:xfrm>
              <a:off x="23267091" y="29691068"/>
              <a:ext cx="6624000" cy="864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fr-FR" sz="3200" b="1" dirty="0" smtClean="0">
                  <a:solidFill>
                    <a:schemeClr val="tx1"/>
                  </a:solidFill>
                </a:rPr>
                <a:t>Paramètres variables</a:t>
              </a:r>
              <a:endParaRPr lang="fr-FR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17997507" y="36798161"/>
              <a:ext cx="4857784" cy="3108543"/>
            </a:xfrm>
            <a:prstGeom prst="rect">
              <a:avLst/>
            </a:prstGeom>
            <a:noFill/>
            <a:ln w="101600" cmpd="sng">
              <a:noFill/>
            </a:ln>
          </p:spPr>
          <p:txBody>
            <a:bodyPr wrap="square" rtlCol="0">
              <a:spAutoFit/>
            </a:bodyPr>
            <a:lstStyle/>
            <a:p>
              <a:pPr marL="914400" lvl="1" indent="-457200">
                <a:buFont typeface="Wingdings" pitchFamily="2" charset="2"/>
                <a:buChar char="Ø"/>
              </a:pPr>
              <a:r>
                <a:rPr lang="fr-FR" sz="2800" dirty="0" smtClean="0"/>
                <a:t>Température: 24±1°C</a:t>
              </a:r>
            </a:p>
            <a:p>
              <a:pPr marL="914400" lvl="1" indent="-457200">
                <a:buFont typeface="Wingdings" pitchFamily="2" charset="2"/>
                <a:buChar char="Ø"/>
              </a:pPr>
              <a:r>
                <a:rPr lang="fr-FR" sz="2800" dirty="0" smtClean="0"/>
                <a:t>Diamètre du capillaire : 75 µm</a:t>
              </a:r>
            </a:p>
            <a:p>
              <a:pPr marL="914400" lvl="1" indent="-457200">
                <a:buFont typeface="Wingdings" pitchFamily="2" charset="2"/>
                <a:buChar char="Ø"/>
              </a:pPr>
              <a:r>
                <a:rPr lang="fr-FR" sz="2800" dirty="0" smtClean="0"/>
                <a:t>Solution 1M NaClO</a:t>
              </a:r>
              <a:r>
                <a:rPr lang="fr-FR" sz="1800" dirty="0" smtClean="0"/>
                <a:t>4</a:t>
              </a:r>
              <a:r>
                <a:rPr lang="fr-FR" sz="2800" dirty="0" smtClean="0"/>
                <a:t> </a:t>
              </a:r>
            </a:p>
            <a:p>
              <a:pPr marL="914400" lvl="1" indent="-457200">
                <a:buFont typeface="Wingdings" pitchFamily="2" charset="2"/>
                <a:buChar char="Ø"/>
              </a:pPr>
              <a:r>
                <a:rPr lang="fr-FR" sz="2800" dirty="0" smtClean="0"/>
                <a:t>Durée de mesure du potentiel libre: 1h</a:t>
              </a:r>
            </a:p>
            <a:p>
              <a:pPr marL="914400" lvl="1" indent="-457200">
                <a:buFont typeface="Wingdings" pitchFamily="2" charset="2"/>
                <a:buChar char="Ø"/>
              </a:pPr>
              <a:endParaRPr lang="fr-FR" sz="2800" dirty="0" smtClean="0"/>
            </a:p>
          </p:txBody>
        </p:sp>
        <p:sp>
          <p:nvSpPr>
            <p:cNvPr id="359" name="TextBox 358"/>
            <p:cNvSpPr txBox="1"/>
            <p:nvPr/>
          </p:nvSpPr>
          <p:spPr>
            <a:xfrm>
              <a:off x="23283919" y="37406374"/>
              <a:ext cx="6500858" cy="1384995"/>
            </a:xfrm>
            <a:prstGeom prst="rect">
              <a:avLst/>
            </a:prstGeom>
            <a:noFill/>
            <a:ln w="101600" cmpd="sng">
              <a:noFill/>
            </a:ln>
          </p:spPr>
          <p:txBody>
            <a:bodyPr wrap="square" rtlCol="0">
              <a:spAutoFit/>
            </a:bodyPr>
            <a:lstStyle/>
            <a:p>
              <a:pPr marL="914400" lvl="1" indent="-457200">
                <a:buFont typeface="Wingdings" pitchFamily="2" charset="2"/>
                <a:buChar char="Ø"/>
              </a:pPr>
              <a:r>
                <a:rPr lang="fr-FR" sz="2800" dirty="0" smtClean="0"/>
                <a:t>Gamme de potentiels : de -700 mV/ECS jusqu’au potentiel de piqures (proche de 250 mV/ECS)</a:t>
              </a:r>
            </a:p>
          </p:txBody>
        </p:sp>
      </p:grpSp>
      <p:grpSp>
        <p:nvGrpSpPr>
          <p:cNvPr id="361" name="Group 360"/>
          <p:cNvGrpSpPr/>
          <p:nvPr/>
        </p:nvGrpSpPr>
        <p:grpSpPr>
          <a:xfrm>
            <a:off x="638073" y="29892113"/>
            <a:ext cx="6402710" cy="5442559"/>
            <a:chOff x="638073" y="29892113"/>
            <a:chExt cx="6402710" cy="5442559"/>
          </a:xfrm>
        </p:grpSpPr>
        <p:grpSp>
          <p:nvGrpSpPr>
            <p:cNvPr id="112" name="Group 111"/>
            <p:cNvGrpSpPr/>
            <p:nvPr/>
          </p:nvGrpSpPr>
          <p:grpSpPr>
            <a:xfrm>
              <a:off x="638073" y="30726160"/>
              <a:ext cx="6376222" cy="4608512"/>
              <a:chOff x="6355581" y="29940342"/>
              <a:chExt cx="6376222" cy="4608512"/>
            </a:xfrm>
          </p:grpSpPr>
          <p:grpSp>
            <p:nvGrpSpPr>
              <p:cNvPr id="63" name="Groupe 62"/>
              <p:cNvGrpSpPr/>
              <p:nvPr/>
            </p:nvGrpSpPr>
            <p:grpSpPr>
              <a:xfrm>
                <a:off x="6355581" y="29940342"/>
                <a:ext cx="6376222" cy="4608512"/>
                <a:chOff x="6355581" y="29641862"/>
                <a:chExt cx="6376222" cy="4608512"/>
              </a:xfrm>
            </p:grpSpPr>
            <p:sp>
              <p:nvSpPr>
                <p:cNvPr id="58" name="Rectangle 57"/>
                <p:cNvSpPr/>
                <p:nvPr/>
              </p:nvSpPr>
              <p:spPr>
                <a:xfrm>
                  <a:off x="6355581" y="29892656"/>
                  <a:ext cx="4071966" cy="35394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>
                    <a:buFont typeface="Wingdings" pitchFamily="2" charset="2"/>
                    <a:buChar char="Ø"/>
                  </a:pPr>
                  <a:r>
                    <a:rPr lang="fr-FR" sz="2800" dirty="0" smtClean="0"/>
                    <a:t>Interféromètre  optique </a:t>
                  </a:r>
                  <a:r>
                    <a:rPr lang="fr-FR" sz="2800" dirty="0" err="1" smtClean="0"/>
                    <a:t>Veeco</a:t>
                  </a:r>
                  <a:r>
                    <a:rPr lang="fr-FR" sz="2800" dirty="0" smtClean="0"/>
                    <a:t> </a:t>
                  </a:r>
                  <a:r>
                    <a:rPr lang="fr-FR" sz="2800" dirty="0" err="1" smtClean="0"/>
                    <a:t>Wyco</a:t>
                  </a:r>
                  <a:r>
                    <a:rPr lang="fr-FR" sz="2800" dirty="0" smtClean="0"/>
                    <a:t> NT1100</a:t>
                  </a:r>
                </a:p>
                <a:p>
                  <a:pPr marL="457200" indent="-457200">
                    <a:buFont typeface="Wingdings" pitchFamily="2" charset="2"/>
                    <a:buChar char="Ø"/>
                  </a:pPr>
                  <a:r>
                    <a:rPr lang="fr-FR" sz="2800" dirty="0" smtClean="0"/>
                    <a:t>MEB + Logiciel de </a:t>
                  </a:r>
                  <a:r>
                    <a:rPr lang="fr-FR" sz="2800" dirty="0" err="1" smtClean="0"/>
                    <a:t>stéréo-vision</a:t>
                  </a:r>
                  <a:r>
                    <a:rPr lang="fr-FR" sz="2800" dirty="0" smtClean="0"/>
                    <a:t> MEX</a:t>
                  </a:r>
                </a:p>
                <a:p>
                  <a:pPr marL="457200" indent="-457200">
                    <a:buFont typeface="Wingdings" pitchFamily="2" charset="2"/>
                    <a:buChar char="Ø"/>
                  </a:pPr>
                  <a:r>
                    <a:rPr lang="fr-FR" sz="2800" dirty="0" smtClean="0"/>
                    <a:t>Goniomètre de texture D8 </a:t>
                  </a:r>
                  <a:r>
                    <a:rPr lang="fr-FR" sz="2800" dirty="0" err="1" smtClean="0"/>
                    <a:t>Discover</a:t>
                  </a:r>
                  <a:r>
                    <a:rPr lang="fr-FR" sz="2800" dirty="0" smtClean="0"/>
                    <a:t> de BRUCKER AXS</a:t>
                  </a:r>
                </a:p>
              </p:txBody>
            </p:sp>
            <p:pic>
              <p:nvPicPr>
                <p:cNvPr id="1031" name="Image 1" descr="C:\Users\judyzhuzhu\Desktop\presentation anglaise PJE\CIRP07012012\photos\P1110235.JPG"/>
                <p:cNvPicPr>
                  <a:picLocks noChangeArrowheads="1"/>
                </p:cNvPicPr>
                <p:nvPr/>
              </p:nvPicPr>
              <p:blipFill>
                <a:blip r:embed="rId18" cstate="print"/>
                <a:srcRect l="10828" t="4286" r="8275" b="4515"/>
                <a:stretch>
                  <a:fillRect/>
                </a:stretch>
              </p:blipFill>
              <p:spPr bwMode="auto">
                <a:xfrm>
                  <a:off x="10427547" y="29641862"/>
                  <a:ext cx="2304256" cy="4608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62" name="Rectangle 61"/>
              <p:cNvSpPr/>
              <p:nvPr/>
            </p:nvSpPr>
            <p:spPr>
              <a:xfrm>
                <a:off x="6784209" y="33717857"/>
                <a:ext cx="356962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fr-FR" sz="2400" dirty="0" smtClean="0"/>
                  <a:t>Interféromètre optique </a:t>
                </a:r>
                <a:r>
                  <a:rPr lang="fr-FR" sz="2400" dirty="0" err="1" smtClean="0"/>
                  <a:t>Veeco</a:t>
                </a:r>
                <a:r>
                  <a:rPr lang="fr-FR" sz="2400" dirty="0" smtClean="0"/>
                  <a:t> </a:t>
                </a:r>
                <a:r>
                  <a:rPr lang="fr-FR" sz="2400" dirty="0" err="1" smtClean="0"/>
                  <a:t>Wyko</a:t>
                </a:r>
                <a:endParaRPr lang="fr-FR" sz="2400" dirty="0"/>
              </a:p>
            </p:txBody>
          </p:sp>
        </p:grpSp>
        <p:sp>
          <p:nvSpPr>
            <p:cNvPr id="360" name="Rectangle 359"/>
            <p:cNvSpPr/>
            <p:nvPr/>
          </p:nvSpPr>
          <p:spPr>
            <a:xfrm>
              <a:off x="638073" y="29892113"/>
              <a:ext cx="640271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3200" b="1" dirty="0" smtClean="0"/>
                <a:t>Métrologie des outils et des surfaces :</a:t>
              </a:r>
            </a:p>
          </p:txBody>
        </p:sp>
      </p:grpSp>
      <p:grpSp>
        <p:nvGrpSpPr>
          <p:cNvPr id="366" name="Group 365"/>
          <p:cNvGrpSpPr/>
          <p:nvPr/>
        </p:nvGrpSpPr>
        <p:grpSpPr>
          <a:xfrm>
            <a:off x="647597" y="37549250"/>
            <a:ext cx="5848392" cy="1857388"/>
            <a:chOff x="647597" y="37906440"/>
            <a:chExt cx="5848392" cy="1857388"/>
          </a:xfrm>
        </p:grpSpPr>
        <p:pic>
          <p:nvPicPr>
            <p:cNvPr id="1039" name="Picture 15"/>
            <p:cNvPicPr>
              <a:picLocks noChangeAspect="1" noChangeArrowheads="1"/>
            </p:cNvPicPr>
            <p:nvPr/>
          </p:nvPicPr>
          <p:blipFill>
            <a:blip r:embed="rId19" cstate="print">
              <a:lum contrast="20000"/>
            </a:blip>
            <a:srcRect l="4464" r="10714" b="18604"/>
            <a:stretch>
              <a:fillRect/>
            </a:stretch>
          </p:blipFill>
          <p:spPr bwMode="auto">
            <a:xfrm>
              <a:off x="1209577" y="37906440"/>
              <a:ext cx="1357322" cy="1000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40" name="Picture 16"/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4138535" y="37963598"/>
              <a:ext cx="1379244" cy="101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64" name="Rectangle 363"/>
            <p:cNvSpPr/>
            <p:nvPr/>
          </p:nvSpPr>
          <p:spPr>
            <a:xfrm>
              <a:off x="647597" y="38932831"/>
              <a:ext cx="584839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2400" dirty="0" smtClean="0"/>
                <a:t>Plaquettes ARNO a) Pour chariotage b) Pour déroulage de disque</a:t>
              </a:r>
              <a:endParaRPr lang="fr-FR" sz="2400" dirty="0"/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1066701" y="38406506"/>
              <a:ext cx="30718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 smtClean="0"/>
                <a:t>a)                                  b)</a:t>
              </a:r>
              <a:endParaRPr lang="fr-FR" sz="2000" dirty="0"/>
            </a:p>
          </p:txBody>
        </p:sp>
      </p:grpSp>
      <p:grpSp>
        <p:nvGrpSpPr>
          <p:cNvPr id="350" name="Group 349"/>
          <p:cNvGrpSpPr/>
          <p:nvPr/>
        </p:nvGrpSpPr>
        <p:grpSpPr>
          <a:xfrm>
            <a:off x="11210897" y="17260858"/>
            <a:ext cx="14216162" cy="10858576"/>
            <a:chOff x="11210897" y="17260858"/>
            <a:chExt cx="14216162" cy="10858576"/>
          </a:xfrm>
        </p:grpSpPr>
        <p:grpSp>
          <p:nvGrpSpPr>
            <p:cNvPr id="264" name="Group 263"/>
            <p:cNvGrpSpPr/>
            <p:nvPr/>
          </p:nvGrpSpPr>
          <p:grpSpPr>
            <a:xfrm>
              <a:off x="11210897" y="17260858"/>
              <a:ext cx="14216162" cy="10858576"/>
              <a:chOff x="11210897" y="17260858"/>
              <a:chExt cx="14216162" cy="10858576"/>
            </a:xfrm>
          </p:grpSpPr>
          <p:grpSp>
            <p:nvGrpSpPr>
              <p:cNvPr id="261" name="Group 260"/>
              <p:cNvGrpSpPr/>
              <p:nvPr/>
            </p:nvGrpSpPr>
            <p:grpSpPr>
              <a:xfrm>
                <a:off x="11210897" y="17260858"/>
                <a:ext cx="14216162" cy="10858576"/>
                <a:chOff x="11210897" y="17260858"/>
                <a:chExt cx="14216162" cy="10858576"/>
              </a:xfrm>
            </p:grpSpPr>
            <p:grpSp>
              <p:nvGrpSpPr>
                <p:cNvPr id="231" name="Group 230"/>
                <p:cNvGrpSpPr/>
                <p:nvPr/>
              </p:nvGrpSpPr>
              <p:grpSpPr>
                <a:xfrm>
                  <a:off x="11210897" y="17260858"/>
                  <a:ext cx="14216162" cy="10858576"/>
                  <a:chOff x="11210897" y="17260858"/>
                  <a:chExt cx="14216162" cy="10858576"/>
                </a:xfrm>
              </p:grpSpPr>
              <p:grpSp>
                <p:nvGrpSpPr>
                  <p:cNvPr id="201" name="Group 200"/>
                  <p:cNvGrpSpPr/>
                  <p:nvPr/>
                </p:nvGrpSpPr>
                <p:grpSpPr>
                  <a:xfrm>
                    <a:off x="11210897" y="17260858"/>
                    <a:ext cx="14216162" cy="10858576"/>
                    <a:chOff x="11282335" y="17760924"/>
                    <a:chExt cx="14216162" cy="10858576"/>
                  </a:xfrm>
                </p:grpSpPr>
                <p:sp>
                  <p:nvSpPr>
                    <p:cNvPr id="307" name="Round Diagonal Corner Rectangle 306"/>
                    <p:cNvSpPr/>
                    <p:nvPr/>
                  </p:nvSpPr>
                  <p:spPr bwMode="auto">
                    <a:xfrm>
                      <a:off x="12925409" y="17760924"/>
                      <a:ext cx="11930146" cy="10858576"/>
                    </a:xfrm>
                    <a:prstGeom prst="round2DiagRect">
                      <a:avLst/>
                    </a:prstGeom>
                    <a:solidFill>
                      <a:schemeClr val="bg1"/>
                    </a:solidFill>
                    <a:ln w="762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39862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7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grpSp>
                  <p:nvGrpSpPr>
                    <p:cNvPr id="237" name="Group 236"/>
                    <p:cNvGrpSpPr/>
                    <p:nvPr/>
                  </p:nvGrpSpPr>
                  <p:grpSpPr>
                    <a:xfrm>
                      <a:off x="18711887" y="18816963"/>
                      <a:ext cx="6072230" cy="2801613"/>
                      <a:chOff x="22855291" y="30342764"/>
                      <a:chExt cx="6072230" cy="2801613"/>
                    </a:xfrm>
                  </p:grpSpPr>
                  <p:pic>
                    <p:nvPicPr>
                      <p:cNvPr id="249" name="Picture 248" descr="Capture.JPG"/>
                      <p:cNvPicPr>
                        <a:picLocks noChangeAspect="1"/>
                      </p:cNvPicPr>
                      <p:nvPr/>
                    </p:nvPicPr>
                    <p:blipFill>
                      <a:blip r:embed="rId21" cstate="print"/>
                      <a:srcRect l="50303" r="956" b="11401"/>
                      <a:stretch>
                        <a:fillRect/>
                      </a:stretch>
                    </p:blipFill>
                    <p:spPr>
                      <a:xfrm>
                        <a:off x="25284183" y="30731264"/>
                        <a:ext cx="3643338" cy="2413113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251" name="Rectangle 250"/>
                      <p:cNvSpPr/>
                      <p:nvPr/>
                    </p:nvSpPr>
                    <p:spPr>
                      <a:xfrm>
                        <a:off x="27284447" y="30342764"/>
                        <a:ext cx="1643074" cy="1015663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fr-FR" sz="2000" dirty="0" smtClean="0"/>
                          <a:t>Zone morte en amont de l’outil [3]</a:t>
                        </a:r>
                        <a:endParaRPr lang="fr-FR" sz="2000" dirty="0"/>
                      </a:p>
                    </p:txBody>
                  </p:sp>
                  <p:sp>
                    <p:nvSpPr>
                      <p:cNvPr id="252" name="TextBox 251"/>
                      <p:cNvSpPr txBox="1"/>
                      <p:nvPr/>
                    </p:nvSpPr>
                    <p:spPr>
                      <a:xfrm>
                        <a:off x="22855291" y="31144113"/>
                        <a:ext cx="2500330" cy="1077218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1">
                        <a:schemeClr val="dk1"/>
                      </a:lnRef>
                      <a:fillRef idx="2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fr-FR" sz="3200" b="1" dirty="0" smtClean="0">
                            <a:solidFill>
                              <a:schemeClr val="tx1"/>
                            </a:solidFill>
                          </a:rPr>
                          <a:t>Effet du labourage</a:t>
                        </a:r>
                        <a:endParaRPr lang="fr-FR" sz="3200" b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80" name="Group 179"/>
                    <p:cNvGrpSpPr/>
                    <p:nvPr/>
                  </p:nvGrpSpPr>
                  <p:grpSpPr>
                    <a:xfrm>
                      <a:off x="13854103" y="22833022"/>
                      <a:ext cx="3500462" cy="4714908"/>
                      <a:chOff x="7033391" y="20716035"/>
                      <a:chExt cx="3379328" cy="4297297"/>
                    </a:xfrm>
                  </p:grpSpPr>
                  <p:grpSp>
                    <p:nvGrpSpPr>
                      <p:cNvPr id="179" name="Group 178"/>
                      <p:cNvGrpSpPr/>
                      <p:nvPr/>
                    </p:nvGrpSpPr>
                    <p:grpSpPr>
                      <a:xfrm>
                        <a:off x="7033391" y="20716035"/>
                        <a:ext cx="3379328" cy="4297297"/>
                        <a:chOff x="6533325" y="19930217"/>
                        <a:chExt cx="3379328" cy="4297297"/>
                      </a:xfrm>
                    </p:grpSpPr>
                    <p:grpSp>
                      <p:nvGrpSpPr>
                        <p:cNvPr id="177" name="Group 176"/>
                        <p:cNvGrpSpPr/>
                        <p:nvPr/>
                      </p:nvGrpSpPr>
                      <p:grpSpPr>
                        <a:xfrm>
                          <a:off x="6533325" y="19930217"/>
                          <a:ext cx="3379328" cy="4297297"/>
                          <a:chOff x="2344509" y="17586210"/>
                          <a:chExt cx="3379328" cy="4297297"/>
                        </a:xfrm>
                      </p:grpSpPr>
                      <p:pic>
                        <p:nvPicPr>
                          <p:cNvPr id="67" name="Image 66" descr="disque.bmp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 cstate="print">
                            <a:lum contrast="10000"/>
                          </a:blip>
                          <a:srcRect l="26931" t="18203" r="14783"/>
                          <a:stretch>
                            <a:fillRect/>
                          </a:stretch>
                        </p:blipFill>
                        <p:spPr>
                          <a:xfrm>
                            <a:off x="2344509" y="17586210"/>
                            <a:ext cx="3379328" cy="4297297"/>
                          </a:xfrm>
                          <a:prstGeom prst="rect">
                            <a:avLst/>
                          </a:prstGeom>
                        </p:spPr>
                      </p:pic>
                      <p:sp>
                        <p:nvSpPr>
                          <p:cNvPr id="141" name="Right Arrow 140"/>
                          <p:cNvSpPr/>
                          <p:nvPr/>
                        </p:nvSpPr>
                        <p:spPr bwMode="auto">
                          <a:xfrm rot="5400000">
                            <a:off x="3055053" y="17960138"/>
                            <a:ext cx="571504" cy="214314"/>
                          </a:xfrm>
                          <a:prstGeom prst="rightArrow">
                            <a:avLst/>
                          </a:prstGeom>
                          <a:solidFill>
                            <a:srgbClr val="8E2462"/>
                          </a:solidFill>
                          <a:ln w="9525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extLs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vert="horz" wrap="square" lIns="91440" tIns="45720" rIns="91440" bIns="45720" numCol="1" rtlCol="0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l" defTabSz="3986213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fr-FR" sz="7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endParaRPr>
                          </a:p>
                        </p:txBody>
                      </p:sp>
                      <p:sp>
                        <p:nvSpPr>
                          <p:cNvPr id="144" name="TextBox 143"/>
                          <p:cNvSpPr txBox="1"/>
                          <p:nvPr/>
                        </p:nvSpPr>
                        <p:spPr>
                          <a:xfrm>
                            <a:off x="2955610" y="17911764"/>
                            <a:ext cx="423386" cy="33855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fr-FR" sz="1600" b="1" dirty="0" smtClean="0">
                                <a:solidFill>
                                  <a:srgbClr val="8E2462"/>
                                </a:solidFill>
                              </a:rPr>
                              <a:t>Va</a:t>
                            </a:r>
                            <a:endParaRPr lang="fr-FR" sz="1600" b="1" dirty="0">
                              <a:solidFill>
                                <a:srgbClr val="8E2462"/>
                              </a:solidFill>
                            </a:endParaRPr>
                          </a:p>
                        </p:txBody>
                      </p:sp>
                    </p:grpSp>
                    <p:sp>
                      <p:nvSpPr>
                        <p:cNvPr id="239" name="TextBox 238"/>
                        <p:cNvSpPr txBox="1"/>
                        <p:nvPr/>
                      </p:nvSpPr>
                      <p:spPr>
                        <a:xfrm>
                          <a:off x="6981477" y="21557981"/>
                          <a:ext cx="100013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fr-FR" sz="1800" b="1" dirty="0" smtClean="0"/>
                            <a:t>disque</a:t>
                          </a:r>
                          <a:endParaRPr lang="fr-FR" sz="1800" b="1" dirty="0"/>
                        </a:p>
                      </p:txBody>
                    </p:sp>
                    <p:cxnSp>
                      <p:nvCxnSpPr>
                        <p:cNvPr id="241" name="Straight Arrow Connector 240"/>
                        <p:cNvCxnSpPr/>
                        <p:nvPr/>
                      </p:nvCxnSpPr>
                      <p:spPr bwMode="auto">
                        <a:xfrm>
                          <a:off x="7833788" y="21753313"/>
                          <a:ext cx="285752" cy="1588"/>
                        </a:xfrm>
                        <a:prstGeom prst="straightConnector1">
                          <a:avLst/>
                        </a:prstGeom>
                        <a:solidFill>
                          <a:schemeClr val="accent1"/>
                        </a:solidFill>
                        <a:ln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arrow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  <p:sp>
                    <p:nvSpPr>
                      <p:cNvPr id="243" name="TextBox 242"/>
                      <p:cNvSpPr txBox="1"/>
                      <p:nvPr/>
                    </p:nvSpPr>
                    <p:spPr>
                      <a:xfrm>
                        <a:off x="8942482" y="20854049"/>
                        <a:ext cx="100013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fr-FR" sz="1800" b="1" dirty="0" smtClean="0"/>
                          <a:t>outil</a:t>
                        </a:r>
                        <a:endParaRPr lang="fr-FR" sz="1800" b="1" dirty="0"/>
                      </a:p>
                    </p:txBody>
                  </p:sp>
                </p:grpSp>
                <p:sp>
                  <p:nvSpPr>
                    <p:cNvPr id="332" name="Down Arrow 331"/>
                    <p:cNvSpPr/>
                    <p:nvPr/>
                  </p:nvSpPr>
                  <p:spPr bwMode="auto">
                    <a:xfrm>
                      <a:off x="14782797" y="20012992"/>
                      <a:ext cx="285752" cy="676890"/>
                    </a:xfrm>
                    <a:prstGeom prst="downArrow">
                      <a:avLst>
                        <a:gd name="adj1" fmla="val 50000"/>
                        <a:gd name="adj2" fmla="val 86113"/>
                      </a:avLst>
                    </a:prstGeom>
                    <a:solidFill>
                      <a:srgbClr val="F29400"/>
                    </a:solidFill>
                    <a:ln>
                      <a:headEnd type="none" w="med" len="med"/>
                      <a:tailEnd type="none" w="med" len="med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39862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7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333" name="TextBox 332"/>
                    <p:cNvSpPr txBox="1"/>
                    <p:nvPr/>
                  </p:nvSpPr>
                  <p:spPr>
                    <a:xfrm rot="10800000" flipH="1" flipV="1">
                      <a:off x="14211293" y="19975502"/>
                      <a:ext cx="785818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4000" b="1" dirty="0" smtClean="0"/>
                        <a:t>r</a:t>
                      </a:r>
                      <a:r>
                        <a:rPr lang="el-GR" sz="2000" b="1" dirty="0" smtClean="0"/>
                        <a:t>β</a:t>
                      </a:r>
                      <a:endParaRPr lang="fr-FR" sz="4000" b="1" dirty="0"/>
                    </a:p>
                  </p:txBody>
                </p:sp>
                <p:sp>
                  <p:nvSpPr>
                    <p:cNvPr id="334" name="TextBox 333"/>
                    <p:cNvSpPr txBox="1"/>
                    <p:nvPr/>
                  </p:nvSpPr>
                  <p:spPr>
                    <a:xfrm>
                      <a:off x="13568351" y="19904064"/>
                      <a:ext cx="92869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l-GR" sz="4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γ</a:t>
                      </a:r>
                      <a:endParaRPr lang="fr-FR" sz="4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336" name="Down Arrow 335"/>
                    <p:cNvSpPr/>
                    <p:nvPr/>
                  </p:nvSpPr>
                  <p:spPr bwMode="auto">
                    <a:xfrm>
                      <a:off x="15354301" y="19618313"/>
                      <a:ext cx="285752" cy="1046308"/>
                    </a:xfrm>
                    <a:prstGeom prst="downArrow">
                      <a:avLst>
                        <a:gd name="adj1" fmla="val 50000"/>
                        <a:gd name="adj2" fmla="val 86113"/>
                      </a:avLst>
                    </a:prstGeom>
                    <a:solidFill>
                      <a:srgbClr val="F29400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39862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7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338" name="TextBox 337"/>
                    <p:cNvSpPr txBox="1"/>
                    <p:nvPr/>
                  </p:nvSpPr>
                  <p:spPr>
                    <a:xfrm>
                      <a:off x="15925805" y="19696244"/>
                      <a:ext cx="1500198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4000" b="1" dirty="0" err="1" smtClean="0"/>
                        <a:t>V</a:t>
                      </a:r>
                      <a:r>
                        <a:rPr lang="fr-FR" sz="2800" b="1" dirty="0" err="1" smtClean="0"/>
                        <a:t>c</a:t>
                      </a:r>
                      <a:r>
                        <a:rPr lang="fr-FR" sz="2800" b="1" dirty="0" smtClean="0"/>
                        <a:t> </a:t>
                      </a:r>
                      <a:r>
                        <a:rPr lang="fr-FR" sz="2000" b="1" dirty="0" smtClean="0"/>
                        <a:t>=</a:t>
                      </a:r>
                      <a:r>
                        <a:rPr lang="fr-FR" sz="2000" b="1" dirty="0" err="1" smtClean="0"/>
                        <a:t>cste</a:t>
                      </a:r>
                      <a:endParaRPr lang="fr-FR" sz="4000" b="1" dirty="0"/>
                    </a:p>
                  </p:txBody>
                </p:sp>
                <p:sp>
                  <p:nvSpPr>
                    <p:cNvPr id="344" name="TextBox 343"/>
                    <p:cNvSpPr txBox="1"/>
                    <p:nvPr/>
                  </p:nvSpPr>
                  <p:spPr>
                    <a:xfrm>
                      <a:off x="15568615" y="19634689"/>
                      <a:ext cx="857256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4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  <a:endParaRPr lang="fr-FR" sz="4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345" name="TextBox 344"/>
                    <p:cNvSpPr txBox="1"/>
                    <p:nvPr/>
                  </p:nvSpPr>
                  <p:spPr>
                    <a:xfrm>
                      <a:off x="13211161" y="18787315"/>
                      <a:ext cx="1857388" cy="120032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2"/>
                    </a:lnRef>
                    <a:fillRef idx="1">
                      <a:schemeClr val="lt1"/>
                    </a:fillRef>
                    <a:effectRef idx="0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fr-FR" sz="2400" b="1" dirty="0" smtClean="0"/>
                        <a:t>Géométrie et matériau de l’outil</a:t>
                      </a:r>
                      <a:endParaRPr lang="fr-FR" sz="2400" b="1" dirty="0"/>
                    </a:p>
                  </p:txBody>
                </p:sp>
                <p:sp>
                  <p:nvSpPr>
                    <p:cNvPr id="189" name="Rectangle 188"/>
                    <p:cNvSpPr/>
                    <p:nvPr/>
                  </p:nvSpPr>
                  <p:spPr>
                    <a:xfrm>
                      <a:off x="12925409" y="27296061"/>
                      <a:ext cx="3357586" cy="1323439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fr-FR" sz="4000" dirty="0" smtClean="0">
                          <a:ln w="18415" cmpd="sng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63500" dir="3600000" algn="tl" rotWithShape="0">
                              <a:srgbClr val="000000">
                                <a:alpha val="70000"/>
                              </a:srgbClr>
                            </a:outerShdw>
                          </a:effectLst>
                        </a:rPr>
                        <a:t>Coupe</a:t>
                      </a:r>
                    </a:p>
                    <a:p>
                      <a:pPr algn="ctr"/>
                      <a:r>
                        <a:rPr lang="fr-FR" sz="4000" dirty="0" smtClean="0">
                          <a:ln w="18415" cmpd="sng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63500" dir="3600000" algn="tl" rotWithShape="0">
                              <a:srgbClr val="000000">
                                <a:alpha val="70000"/>
                              </a:srgbClr>
                            </a:outerShdw>
                          </a:effectLst>
                        </a:rPr>
                        <a:t>2D</a:t>
                      </a:r>
                      <a:endParaRPr lang="fr-FR" sz="4000" dirty="0">
                        <a:ln w="18415" cmpd="sng">
                          <a:solidFill>
                            <a:srgbClr val="FFFFFF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233" name="TextBox 232"/>
                    <p:cNvSpPr txBox="1"/>
                    <p:nvPr/>
                  </p:nvSpPr>
                  <p:spPr>
                    <a:xfrm>
                      <a:off x="17997507" y="18046676"/>
                      <a:ext cx="4000528" cy="715089"/>
                    </a:xfrm>
                    <a:prstGeom prst="roundRect">
                      <a:avLst/>
                    </a:prstGeom>
                    <a:ln w="38100">
                      <a:solidFill>
                        <a:srgbClr val="8E2462"/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fr-FR" sz="3600" b="1" dirty="0" smtClean="0">
                          <a:solidFill>
                            <a:srgbClr val="8E2462"/>
                          </a:solidFill>
                        </a:rPr>
                        <a:t>Efforts de coupe</a:t>
                      </a:r>
                      <a:endParaRPr lang="fr-FR" sz="3600" b="1" dirty="0">
                        <a:solidFill>
                          <a:srgbClr val="8E2462"/>
                        </a:solidFill>
                      </a:endParaRPr>
                    </a:p>
                  </p:txBody>
                </p:sp>
                <p:sp>
                  <p:nvSpPr>
                    <p:cNvPr id="235" name="TextBox 234"/>
                    <p:cNvSpPr txBox="1"/>
                    <p:nvPr/>
                  </p:nvSpPr>
                  <p:spPr>
                    <a:xfrm>
                      <a:off x="18640449" y="18903932"/>
                      <a:ext cx="321471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2800" b="1" dirty="0" smtClean="0"/>
                        <a:t>(</a:t>
                      </a:r>
                      <a:r>
                        <a:rPr lang="fr-FR" sz="2800" b="1" dirty="0" err="1" smtClean="0"/>
                        <a:t>F</a:t>
                      </a:r>
                      <a:r>
                        <a:rPr lang="fr-FR" sz="2000" b="1" dirty="0" err="1" smtClean="0"/>
                        <a:t>c</a:t>
                      </a:r>
                      <a:r>
                        <a:rPr lang="fr-FR" sz="2800" b="1" dirty="0" smtClean="0"/>
                        <a:t>, F</a:t>
                      </a:r>
                      <a:r>
                        <a:rPr lang="fr-FR" sz="2000" b="1" dirty="0" smtClean="0"/>
                        <a:t>a</a:t>
                      </a:r>
                      <a:r>
                        <a:rPr lang="fr-FR" sz="2400" b="1" dirty="0" smtClean="0"/>
                        <a:t>)</a:t>
                      </a:r>
                      <a:r>
                        <a:rPr lang="fr-FR" sz="2000" b="1" dirty="0" smtClean="0"/>
                        <a:t> </a:t>
                      </a:r>
                      <a:r>
                        <a:rPr lang="fr-FR" sz="2400" b="1" dirty="0" smtClean="0"/>
                        <a:t>= f(r</a:t>
                      </a:r>
                      <a:r>
                        <a:rPr lang="el-GR" sz="1800" b="1" dirty="0" smtClean="0"/>
                        <a:t>β</a:t>
                      </a:r>
                      <a:r>
                        <a:rPr lang="fr-FR" sz="2400" b="1" dirty="0" smtClean="0"/>
                        <a:t>, h) </a:t>
                      </a:r>
                      <a:endParaRPr lang="fr-FR" sz="3200" b="1" dirty="0"/>
                    </a:p>
                  </p:txBody>
                </p:sp>
                <p:cxnSp>
                  <p:nvCxnSpPr>
                    <p:cNvPr id="236" name="Elbow Connector 235"/>
                    <p:cNvCxnSpPr/>
                    <p:nvPr/>
                  </p:nvCxnSpPr>
                  <p:spPr bwMode="auto">
                    <a:xfrm rot="5400000" flipH="1" flipV="1">
                      <a:off x="16533028" y="19511155"/>
                      <a:ext cx="2643206" cy="1285884"/>
                    </a:xfrm>
                    <a:prstGeom prst="bentConnector3">
                      <a:avLst>
                        <a:gd name="adj1" fmla="val -1295"/>
                      </a:avLst>
                    </a:prstGeom>
                    <a:ln w="57150">
                      <a:headEnd type="none" w="med" len="med"/>
                      <a:tailEnd type="arrow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47" name="Group 246"/>
                    <p:cNvGrpSpPr/>
                    <p:nvPr/>
                  </p:nvGrpSpPr>
                  <p:grpSpPr>
                    <a:xfrm>
                      <a:off x="16568747" y="22847165"/>
                      <a:ext cx="4357718" cy="5495383"/>
                      <a:chOff x="21426530" y="23561551"/>
                      <a:chExt cx="4357718" cy="5495383"/>
                    </a:xfrm>
                  </p:grpSpPr>
                  <p:sp>
                    <p:nvSpPr>
                      <p:cNvPr id="254" name="Rectangle 253"/>
                      <p:cNvSpPr/>
                      <p:nvPr/>
                    </p:nvSpPr>
                    <p:spPr>
                      <a:xfrm>
                        <a:off x="21426530" y="25847541"/>
                        <a:ext cx="3929090" cy="83099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fr-FR" sz="2400" dirty="0" smtClean="0"/>
                          <a:t>(1) couche recristallisée (2) couche plastifiée [1 (1)]</a:t>
                        </a:r>
                        <a:endParaRPr lang="fr-FR" sz="2400" dirty="0"/>
                      </a:p>
                    </p:txBody>
                  </p:sp>
                  <p:grpSp>
                    <p:nvGrpSpPr>
                      <p:cNvPr id="169" name="Group 168"/>
                      <p:cNvGrpSpPr/>
                      <p:nvPr/>
                    </p:nvGrpSpPr>
                    <p:grpSpPr>
                      <a:xfrm>
                        <a:off x="22212353" y="23561551"/>
                        <a:ext cx="3571895" cy="5495383"/>
                        <a:chOff x="28173625" y="35432059"/>
                        <a:chExt cx="4231328" cy="5945198"/>
                      </a:xfrm>
                    </p:grpSpPr>
                    <p:grpSp>
                      <p:nvGrpSpPr>
                        <p:cNvPr id="274" name="Group 273"/>
                        <p:cNvGrpSpPr/>
                        <p:nvPr/>
                      </p:nvGrpSpPr>
                      <p:grpSpPr>
                        <a:xfrm>
                          <a:off x="28173625" y="35432059"/>
                          <a:ext cx="4231328" cy="5945198"/>
                          <a:chOff x="20815511" y="23263316"/>
                          <a:chExt cx="4231328" cy="5945198"/>
                        </a:xfrm>
                      </p:grpSpPr>
                      <p:pic>
                        <p:nvPicPr>
                          <p:cNvPr id="8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 cstate="print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15511" y="23263316"/>
                            <a:ext cx="3343676" cy="250773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ffectLst/>
                        </p:spPr>
                      </p:pic>
                      <p:sp>
                        <p:nvSpPr>
                          <p:cNvPr id="253" name="TextBox 252"/>
                          <p:cNvSpPr txBox="1"/>
                          <p:nvPr/>
                        </p:nvSpPr>
                        <p:spPr>
                          <a:xfrm>
                            <a:off x="20984761" y="27035005"/>
                            <a:ext cx="4062078" cy="2173509"/>
                          </a:xfrm>
                          <a:prstGeom prst="roundRect">
                            <a:avLst/>
                          </a:prstGeom>
                          <a:effectLst>
                            <a:outerShdw blurRad="50800" dist="38100" dir="81000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p:spPr>
                        <p:style>
                          <a:lnRef idx="1">
                            <a:schemeClr val="accent3"/>
                          </a:lnRef>
                          <a:fillRef idx="3">
                            <a:schemeClr val="accent3"/>
                          </a:fillRef>
                          <a:effectRef idx="2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fr-FR" sz="2800" b="1" dirty="0" smtClean="0">
                                <a:solidFill>
                                  <a:schemeClr val="tx1"/>
                                </a:solidFill>
                              </a:rPr>
                              <a:t>Etat microstructural : recristallisation dynamique</a:t>
                            </a:r>
                            <a:endParaRPr lang="fr-FR" sz="2800" b="1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cxnSp>
                        <p:nvCxnSpPr>
                          <p:cNvPr id="256" name="Straight Arrow Connector 255"/>
                          <p:cNvCxnSpPr/>
                          <p:nvPr/>
                        </p:nvCxnSpPr>
                        <p:spPr bwMode="auto">
                          <a:xfrm rot="5400000">
                            <a:off x="22798028" y="23807455"/>
                            <a:ext cx="258293" cy="13983"/>
                          </a:xfrm>
                          <a:prstGeom prst="straightConnector1">
                            <a:avLst/>
                          </a:prstGeom>
                          <a:solidFill>
                            <a:schemeClr val="accent1"/>
                          </a:solidFill>
                          <a:ln w="28575" cap="flat" cmpd="sng" algn="ctr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arrow"/>
                            <a:tailEnd type="arrow"/>
                          </a:ln>
                          <a:effectLst/>
                          <a:extLs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cxnSp>
                      <p:cxnSp>
                        <p:nvCxnSpPr>
                          <p:cNvPr id="258" name="Straight Arrow Connector 257"/>
                          <p:cNvCxnSpPr/>
                          <p:nvPr/>
                        </p:nvCxnSpPr>
                        <p:spPr bwMode="auto">
                          <a:xfrm rot="5400000">
                            <a:off x="22791289" y="24032575"/>
                            <a:ext cx="284955" cy="794"/>
                          </a:xfrm>
                          <a:prstGeom prst="straightConnector1">
                            <a:avLst/>
                          </a:prstGeom>
                          <a:solidFill>
                            <a:schemeClr val="accent1"/>
                          </a:solidFill>
                          <a:ln w="28575" cap="flat" cmpd="sng" algn="ctr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arrow"/>
                            <a:tailEnd type="arrow"/>
                          </a:ln>
                          <a:effectLst/>
                          <a:extLs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cxnSp>
                      <p:cxnSp>
                        <p:nvCxnSpPr>
                          <p:cNvPr id="263" name="Straight Connector 262"/>
                          <p:cNvCxnSpPr/>
                          <p:nvPr/>
                        </p:nvCxnSpPr>
                        <p:spPr bwMode="auto">
                          <a:xfrm rot="10800000">
                            <a:off x="22158541" y="23943592"/>
                            <a:ext cx="857256" cy="1588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28575" cap="flat" cmpd="sng" algn="ctr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extLs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cxnSp>
                      <p:cxnSp>
                        <p:nvCxnSpPr>
                          <p:cNvPr id="267" name="Straight Connector 266"/>
                          <p:cNvCxnSpPr/>
                          <p:nvPr/>
                        </p:nvCxnSpPr>
                        <p:spPr bwMode="auto">
                          <a:xfrm rot="10800000">
                            <a:off x="22076112" y="23685302"/>
                            <a:ext cx="928696" cy="1588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extLs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cxnSp>
                      <p:sp>
                        <p:nvSpPr>
                          <p:cNvPr id="272" name="TextBox 271"/>
                          <p:cNvSpPr txBox="1"/>
                          <p:nvPr/>
                        </p:nvSpPr>
                        <p:spPr>
                          <a:xfrm>
                            <a:off x="21756289" y="23634450"/>
                            <a:ext cx="571505" cy="299673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1200" b="1" dirty="0" smtClean="0"/>
                              <a:t>(1)</a:t>
                            </a:r>
                            <a:endParaRPr lang="fr-FR" sz="1200" b="1" dirty="0"/>
                          </a:p>
                        </p:txBody>
                      </p:sp>
                      <p:sp>
                        <p:nvSpPr>
                          <p:cNvPr id="273" name="TextBox 272"/>
                          <p:cNvSpPr txBox="1"/>
                          <p:nvPr/>
                        </p:nvSpPr>
                        <p:spPr>
                          <a:xfrm>
                            <a:off x="21735408" y="23875776"/>
                            <a:ext cx="571505" cy="299673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1200" b="1" dirty="0" smtClean="0">
                                <a:solidFill>
                                  <a:schemeClr val="bg1"/>
                                </a:solidFill>
                              </a:rPr>
                              <a:t>(2)</a:t>
                            </a:r>
                            <a:endParaRPr lang="fr-FR" sz="1200" b="1" dirty="0">
                              <a:solidFill>
                                <a:schemeClr val="bg1"/>
                              </a:solidFill>
                            </a:endParaRPr>
                          </a:p>
                        </p:txBody>
                      </p:sp>
                    </p:grpSp>
                    <p:cxnSp>
                      <p:nvCxnSpPr>
                        <p:cNvPr id="265" name="Straight Connector 264"/>
                        <p:cNvCxnSpPr/>
                        <p:nvPr/>
                      </p:nvCxnSpPr>
                      <p:spPr bwMode="auto">
                        <a:xfrm rot="10800000">
                          <a:off x="29434226" y="36266907"/>
                          <a:ext cx="857256" cy="1588"/>
                        </a:xfrm>
                        <a:prstGeom prst="line">
                          <a:avLst/>
                        </a:prstGeom>
                        <a:ln w="28575">
                          <a:solidFill>
                            <a:schemeClr val="bg1"/>
                          </a:solidFill>
                          <a:headEnd type="none" w="med" len="med"/>
                          <a:tailEnd type="none" w="med" len="med"/>
                        </a:ln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style>
                        <a:lnRef idx="1">
                          <a:schemeClr val="accent5"/>
                        </a:lnRef>
                        <a:fillRef idx="0">
                          <a:schemeClr val="accent5"/>
                        </a:fillRef>
                        <a:effectRef idx="0">
                          <a:schemeClr val="accent5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sp>
                  <p:nvSpPr>
                    <p:cNvPr id="244" name="Right Arrow 243"/>
                    <p:cNvSpPr/>
                    <p:nvPr/>
                  </p:nvSpPr>
                  <p:spPr bwMode="auto">
                    <a:xfrm>
                      <a:off x="17640317" y="21832890"/>
                      <a:ext cx="1285884" cy="490542"/>
                    </a:xfrm>
                    <a:prstGeom prst="rightArrow">
                      <a:avLst/>
                    </a:prstGeom>
                    <a:solidFill>
                      <a:srgbClr val="999999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39862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7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245" name="TextBox 244"/>
                    <p:cNvSpPr txBox="1"/>
                    <p:nvPr/>
                  </p:nvSpPr>
                  <p:spPr>
                    <a:xfrm>
                      <a:off x="17711756" y="22371357"/>
                      <a:ext cx="2143139" cy="46166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1">
                      <a:schemeClr val="accent4"/>
                    </a:lnRef>
                    <a:fillRef idx="2">
                      <a:schemeClr val="accent4"/>
                    </a:fillRef>
                    <a:effectRef idx="1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fr-FR" sz="2400" b="1" dirty="0" smtClean="0"/>
                        <a:t>Micrographie</a:t>
                      </a:r>
                      <a:endParaRPr lang="fr-FR" sz="2400" b="1" dirty="0"/>
                    </a:p>
                  </p:txBody>
                </p:sp>
                <p:sp>
                  <p:nvSpPr>
                    <p:cNvPr id="211" name="TextBox 210"/>
                    <p:cNvSpPr txBox="1"/>
                    <p:nvPr/>
                  </p:nvSpPr>
                  <p:spPr>
                    <a:xfrm>
                      <a:off x="14282731" y="20761320"/>
                      <a:ext cx="3429024" cy="2043113"/>
                    </a:xfrm>
                    <a:prstGeom prst="roundRect">
                      <a:avLst/>
                    </a:prstGeom>
                    <a:ln w="57150">
                      <a:solidFill>
                        <a:srgbClr val="999999"/>
                      </a:solidFill>
                    </a:ln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3">
                      <a:schemeClr val="lt1"/>
                    </a:lnRef>
                    <a:fillRef idx="1">
                      <a:schemeClr val="accent3"/>
                    </a:fillRef>
                    <a:effectRef idx="1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endParaRPr lang="fr-FR" sz="14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4000" b="1" dirty="0" smtClean="0">
                          <a:solidFill>
                            <a:schemeClr val="tx1"/>
                          </a:solidFill>
                        </a:rPr>
                        <a:t>Coupe orthogonale</a:t>
                      </a:r>
                    </a:p>
                    <a:p>
                      <a:pPr algn="ctr"/>
                      <a:endParaRPr lang="fr-FR" sz="20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46" name="Down Arrow 245"/>
                    <p:cNvSpPr/>
                    <p:nvPr/>
                  </p:nvSpPr>
                  <p:spPr bwMode="auto">
                    <a:xfrm>
                      <a:off x="19283391" y="20689882"/>
                      <a:ext cx="357190" cy="1000132"/>
                    </a:xfrm>
                    <a:prstGeom prst="downArrow">
                      <a:avLst>
                        <a:gd name="adj1" fmla="val 50000"/>
                        <a:gd name="adj2" fmla="val 86113"/>
                      </a:avLst>
                    </a:prstGeom>
                    <a:ln>
                      <a:headEnd type="none" w="med" len="med"/>
                      <a:tailEnd type="none" w="med" len="med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0">
                      <a:schemeClr val="accent4"/>
                    </a:lnRef>
                    <a:fillRef idx="3">
                      <a:schemeClr val="accent4"/>
                    </a:fillRef>
                    <a:effectRef idx="3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39862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7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248" name="TextBox 247"/>
                    <p:cNvSpPr txBox="1"/>
                    <p:nvPr/>
                  </p:nvSpPr>
                  <p:spPr>
                    <a:xfrm>
                      <a:off x="20783589" y="24492058"/>
                      <a:ext cx="2857520" cy="1055608"/>
                    </a:xfrm>
                    <a:prstGeom prst="roundRect">
                      <a:avLst/>
                    </a:prstGeom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1">
                      <a:schemeClr val="accent3"/>
                    </a:lnRef>
                    <a:fillRef idx="3">
                      <a:schemeClr val="accent3"/>
                    </a:fillRef>
                    <a:effectRef idx="2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fr-FR" sz="2800" b="1" dirty="0" smtClean="0">
                          <a:solidFill>
                            <a:schemeClr val="tx1"/>
                          </a:solidFill>
                        </a:rPr>
                        <a:t>Topographie de la surface</a:t>
                      </a:r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50" name="TextBox 249"/>
                    <p:cNvSpPr txBox="1"/>
                    <p:nvPr/>
                  </p:nvSpPr>
                  <p:spPr>
                    <a:xfrm>
                      <a:off x="21855159" y="22920422"/>
                      <a:ext cx="2571768" cy="1055608"/>
                    </a:xfrm>
                    <a:prstGeom prst="roundRect">
                      <a:avLst/>
                    </a:prstGeom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1">
                      <a:schemeClr val="accent3"/>
                    </a:lnRef>
                    <a:fillRef idx="3">
                      <a:schemeClr val="accent3"/>
                    </a:fillRef>
                    <a:effectRef idx="2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fr-FR" sz="2800" b="1" dirty="0" smtClean="0">
                          <a:solidFill>
                            <a:schemeClr val="tx1"/>
                          </a:solidFill>
                        </a:rPr>
                        <a:t>Etat mécanique</a:t>
                      </a:r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57" name="Straight Arrow Connector 256"/>
                    <p:cNvCxnSpPr/>
                    <p:nvPr/>
                  </p:nvCxnSpPr>
                  <p:spPr bwMode="auto">
                    <a:xfrm rot="5400000" flipH="1" flipV="1">
                      <a:off x="18462648" y="24439583"/>
                      <a:ext cx="4071966" cy="1588"/>
                    </a:xfrm>
                    <a:prstGeom prst="straightConnector1">
                      <a:avLst/>
                    </a:prstGeom>
                    <a:ln w="76200">
                      <a:headEnd type="none" w="med" len="med"/>
                      <a:tailEnd type="arrow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0" name="Straight Arrow Connector 259"/>
                    <p:cNvCxnSpPr>
                      <a:endCxn id="232" idx="2"/>
                    </p:cNvCxnSpPr>
                    <p:nvPr/>
                  </p:nvCxnSpPr>
                  <p:spPr bwMode="auto">
                    <a:xfrm rot="16200000" flipV="1">
                      <a:off x="20301738" y="23422740"/>
                      <a:ext cx="2070993" cy="35719"/>
                    </a:xfrm>
                    <a:prstGeom prst="straightConnector1">
                      <a:avLst/>
                    </a:prstGeom>
                    <a:ln w="76200">
                      <a:headEnd type="none" w="med" len="med"/>
                      <a:tailEnd type="arrow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" name="Straight Arrow Connector 269"/>
                    <p:cNvCxnSpPr/>
                    <p:nvPr/>
                  </p:nvCxnSpPr>
                  <p:spPr bwMode="auto">
                    <a:xfrm rot="5400000" flipH="1" flipV="1">
                      <a:off x="21855159" y="22690940"/>
                      <a:ext cx="569916" cy="1588"/>
                    </a:xfrm>
                    <a:prstGeom prst="straightConnector1">
                      <a:avLst/>
                    </a:prstGeom>
                    <a:ln w="76200">
                      <a:headEnd type="none" w="med" len="med"/>
                      <a:tailEnd type="arrow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9" name="Straight Arrow Connector 278"/>
                    <p:cNvCxnSpPr>
                      <a:stCxn id="213" idx="3"/>
                      <a:endCxn id="233" idx="1"/>
                    </p:cNvCxnSpPr>
                    <p:nvPr/>
                  </p:nvCxnSpPr>
                  <p:spPr bwMode="auto">
                    <a:xfrm>
                      <a:off x="11282335" y="18404221"/>
                      <a:ext cx="6715172" cy="1588"/>
                    </a:xfrm>
                    <a:prstGeom prst="straightConnector1">
                      <a:avLst/>
                    </a:prstGeom>
                    <a:ln w="57150">
                      <a:solidFill>
                        <a:srgbClr val="8E2462"/>
                      </a:solidFill>
                      <a:headEnd type="arrow"/>
                      <a:tailEnd type="arrow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80" name="TextBox 279"/>
                    <p:cNvSpPr txBox="1"/>
                    <p:nvPr/>
                  </p:nvSpPr>
                  <p:spPr>
                    <a:xfrm>
                      <a:off x="13568351" y="17832362"/>
                      <a:ext cx="4714908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3200" b="1" dirty="0" smtClean="0"/>
                        <a:t>Comparaison 3D </a:t>
                      </a:r>
                      <a:r>
                        <a:rPr lang="fr-FR" sz="3200" i="1" dirty="0" smtClean="0"/>
                        <a:t>v</a:t>
                      </a:r>
                      <a:r>
                        <a:rPr lang="fr-FR" sz="3200" b="1" dirty="0" smtClean="0"/>
                        <a:t> 2D</a:t>
                      </a:r>
                      <a:endParaRPr lang="fr-FR" sz="3200" b="1" dirty="0"/>
                    </a:p>
                  </p:txBody>
                </p:sp>
                <p:sp>
                  <p:nvSpPr>
                    <p:cNvPr id="283" name="TextBox 282"/>
                    <p:cNvSpPr txBox="1"/>
                    <p:nvPr/>
                  </p:nvSpPr>
                  <p:spPr>
                    <a:xfrm>
                      <a:off x="15211425" y="18858753"/>
                      <a:ext cx="2143140" cy="83099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2"/>
                    </a:lnRef>
                    <a:fillRef idx="1">
                      <a:schemeClr val="lt1"/>
                    </a:fillRef>
                    <a:effectRef idx="0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fr-FR" sz="2400" b="1" dirty="0" smtClean="0"/>
                        <a:t>Conditions de coupe</a:t>
                      </a:r>
                      <a:endParaRPr lang="fr-FR" sz="2400" b="1" dirty="0"/>
                    </a:p>
                  </p:txBody>
                </p:sp>
                <p:sp>
                  <p:nvSpPr>
                    <p:cNvPr id="285" name="TextBox 284"/>
                    <p:cNvSpPr txBox="1"/>
                    <p:nvPr/>
                  </p:nvSpPr>
                  <p:spPr>
                    <a:xfrm>
                      <a:off x="17283128" y="19761188"/>
                      <a:ext cx="1214446" cy="70788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1">
                      <a:schemeClr val="accent4"/>
                    </a:lnRef>
                    <a:fillRef idx="2">
                      <a:schemeClr val="accent4"/>
                    </a:fillRef>
                    <a:effectRef idx="1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2000" b="1" dirty="0" smtClean="0"/>
                        <a:t>Mesures </a:t>
                      </a:r>
                    </a:p>
                    <a:p>
                      <a:pPr algn="r"/>
                      <a:r>
                        <a:rPr lang="fr-FR" sz="2000" b="1" dirty="0" smtClean="0"/>
                        <a:t>en ligne</a:t>
                      </a:r>
                      <a:endParaRPr lang="fr-FR" sz="2000" b="1" dirty="0"/>
                    </a:p>
                  </p:txBody>
                </p:sp>
                <p:sp>
                  <p:nvSpPr>
                    <p:cNvPr id="329" name="Right Arrow 328"/>
                    <p:cNvSpPr/>
                    <p:nvPr/>
                  </p:nvSpPr>
                  <p:spPr bwMode="auto">
                    <a:xfrm>
                      <a:off x="12282467" y="21761452"/>
                      <a:ext cx="2000264" cy="500066"/>
                    </a:xfrm>
                    <a:prstGeom prst="rightArrow">
                      <a:avLst/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39862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7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277" name="Right Arrow 276"/>
                    <p:cNvSpPr/>
                    <p:nvPr/>
                  </p:nvSpPr>
                  <p:spPr bwMode="auto">
                    <a:xfrm>
                      <a:off x="23712547" y="21832890"/>
                      <a:ext cx="1785950" cy="490542"/>
                    </a:xfrm>
                    <a:prstGeom prst="rightArrow">
                      <a:avLst/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39862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7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232" name="TextBox 231"/>
                    <p:cNvSpPr txBox="1"/>
                    <p:nvPr/>
                  </p:nvSpPr>
                  <p:spPr>
                    <a:xfrm>
                      <a:off x="18926201" y="21690014"/>
                      <a:ext cx="4786346" cy="715089"/>
                    </a:xfrm>
                    <a:prstGeom prst="roundRect">
                      <a:avLst/>
                    </a:prstGeom>
                    <a:ln w="38100">
                      <a:solidFill>
                        <a:srgbClr val="203554"/>
                      </a:solidFill>
                    </a:ln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fr-FR" sz="3600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Intégrité de surface</a:t>
                      </a:r>
                      <a:endParaRPr lang="fr-FR" sz="3600" b="1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88" name="TextBox 187"/>
                    <p:cNvSpPr txBox="1"/>
                    <p:nvPr/>
                  </p:nvSpPr>
                  <p:spPr>
                    <a:xfrm>
                      <a:off x="19569143" y="20832758"/>
                      <a:ext cx="171451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2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h/r</a:t>
                      </a:r>
                      <a:r>
                        <a:rPr lang="el-GR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β</a:t>
                      </a:r>
                      <a:r>
                        <a:rPr lang="fr-FR" sz="2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&lt; 10</a:t>
                      </a:r>
                      <a:endParaRPr lang="fr-FR" sz="28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81" name="TextBox 280"/>
                    <p:cNvSpPr txBox="1"/>
                    <p:nvPr/>
                  </p:nvSpPr>
                  <p:spPr>
                    <a:xfrm>
                      <a:off x="12568219" y="21460169"/>
                      <a:ext cx="2857520" cy="10156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Si </a:t>
                      </a:r>
                      <a:r>
                        <a:rPr lang="fr-FR" sz="20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effets </a:t>
                      </a:r>
                    </a:p>
                    <a:p>
                      <a:endParaRPr lang="fr-FR" sz="2000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né</a:t>
                      </a:r>
                      <a:r>
                        <a:rPr lang="fr-FR" sz="20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gligeables</a:t>
                      </a:r>
                      <a:endParaRPr lang="fr-FR" sz="20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p:grpSp>
              <p:sp>
                <p:nvSpPr>
                  <p:cNvPr id="230" name="Rectangle 229"/>
                  <p:cNvSpPr/>
                  <p:nvPr/>
                </p:nvSpPr>
                <p:spPr>
                  <a:xfrm>
                    <a:off x="12925409" y="25619104"/>
                    <a:ext cx="2286016" cy="120032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fr-FR" sz="2400" b="1" dirty="0" smtClean="0"/>
                      <a:t>Opération de </a:t>
                    </a:r>
                    <a:r>
                      <a:rPr lang="fr-FR" sz="2400" b="1" i="1" dirty="0" smtClean="0"/>
                      <a:t>d</a:t>
                    </a:r>
                    <a:r>
                      <a:rPr lang="fr-FR" sz="2400" i="1" dirty="0" smtClean="0"/>
                      <a:t>éroulage de disque [2]</a:t>
                    </a:r>
                    <a:endParaRPr lang="fr-FR" sz="2400" dirty="0"/>
                  </a:p>
                </p:txBody>
              </p:sp>
            </p:grpSp>
            <p:pic>
              <p:nvPicPr>
                <p:cNvPr id="259" name="Picture 258" descr="1.JPG"/>
                <p:cNvPicPr>
                  <a:picLocks noChangeAspect="1"/>
                </p:cNvPicPr>
                <p:nvPr/>
              </p:nvPicPr>
              <p:blipFill>
                <a:blip r:embed="rId24" cstate="print"/>
                <a:srcRect t="11407" b="8745"/>
                <a:stretch>
                  <a:fillRect/>
                </a:stretch>
              </p:blipFill>
              <p:spPr>
                <a:xfrm>
                  <a:off x="21184470" y="25333352"/>
                  <a:ext cx="3242457" cy="1000132"/>
                </a:xfrm>
                <a:prstGeom prst="rect">
                  <a:avLst/>
                </a:prstGeom>
              </p:spPr>
            </p:pic>
            <p:pic>
              <p:nvPicPr>
                <p:cNvPr id="1026" name="Picture 2"/>
                <p:cNvPicPr>
                  <a:picLocks noChangeAspect="1" noChangeArrowheads="1"/>
                </p:cNvPicPr>
                <p:nvPr/>
              </p:nvPicPr>
              <p:blipFill>
                <a:blip r:embed="rId25" cstate="print"/>
                <a:srcRect t="10890"/>
                <a:stretch>
                  <a:fillRect/>
                </a:stretch>
              </p:blipFill>
              <p:spPr bwMode="auto">
                <a:xfrm>
                  <a:off x="21024912" y="26333484"/>
                  <a:ext cx="3116263" cy="9286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sp>
            <p:nvSpPr>
              <p:cNvPr id="262" name="Rectangle 261"/>
              <p:cNvSpPr/>
              <p:nvPr/>
            </p:nvSpPr>
            <p:spPr>
              <a:xfrm>
                <a:off x="21569407" y="27119302"/>
                <a:ext cx="228601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2400" dirty="0" smtClean="0"/>
                  <a:t>[1 (2)]</a:t>
                </a:r>
                <a:endParaRPr lang="fr-FR" sz="2400" dirty="0"/>
              </a:p>
            </p:txBody>
          </p:sp>
        </p:grpSp>
        <p:sp>
          <p:nvSpPr>
            <p:cNvPr id="308" name="TextBox 307"/>
            <p:cNvSpPr txBox="1"/>
            <p:nvPr/>
          </p:nvSpPr>
          <p:spPr>
            <a:xfrm rot="16200000">
              <a:off x="13539461" y="23066536"/>
              <a:ext cx="121444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sz="2400" b="1" dirty="0" err="1" smtClean="0"/>
                <a:t>h</a:t>
              </a:r>
              <a:r>
                <a:rPr lang="fr-FR" sz="1800" b="1" dirty="0" err="1" smtClean="0"/>
                <a:t>s</a:t>
              </a:r>
              <a:r>
                <a:rPr lang="fr-FR" sz="1800" b="1" dirty="0" smtClean="0"/>
                <a:t> max</a:t>
              </a:r>
              <a:endParaRPr lang="fr-FR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9862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7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9862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7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7091</TotalTime>
  <Words>701</Words>
  <Application>Microsoft Office PowerPoint</Application>
  <PresentationFormat>Personnalisé</PresentationFormat>
  <Paragraphs>159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Modèle par défaut</vt:lpstr>
      <vt:lpstr>Caractérisation de l’intégrité de surface des  sous-couches affectées par le tournage en superfinition du Cu-c2  et impact sur la résistance à la corrosion</vt:lpstr>
    </vt:vector>
  </TitlesOfParts>
  <Company>Ecole Normale Supérieure de Cachan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&gt; Le Titre</dc:title>
  <dc:creator>Quentin SUEL</dc:creator>
  <cp:keywords>Arts et Métiers ParisTech;Master MAGIS;Quentin SUEL</cp:keywords>
  <cp:lastModifiedBy>cl-admin-cl</cp:lastModifiedBy>
  <cp:revision>520</cp:revision>
  <dcterms:created xsi:type="dcterms:W3CDTF">2009-11-26T13:05:11Z</dcterms:created>
  <dcterms:modified xsi:type="dcterms:W3CDTF">2013-02-05T12:25:49Z</dcterms:modified>
</cp:coreProperties>
</file>